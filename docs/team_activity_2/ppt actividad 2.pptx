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630"/>
  </p:normalViewPr>
  <p:slideViewPr>
    <p:cSldViewPr snapToGrid="0">
      <p:cViewPr varScale="1">
        <p:scale>
          <a:sx n="236" d="100"/>
          <a:sy n="236" d="100"/>
        </p:scale>
        <p:origin x="21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el problema, el contexto experimental y la idea fuerza del proyecto.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  <a:p>
            <a:r>
              <a:t>- Notas de clase de Modelado, Estabilidad, Sintonizacion e IMC-PID.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este slide para orientar la exposicion antes de entrar al contexto y al modelado.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Enfatizar que la motivacion real es proteger la medicion del sensor frente a vibraciones de la mesa.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desde el inicio que la planta es de tercer orden porque combina posicion, velocidad y corriente del actuador.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  <a:p>
            <a:r>
              <a:t>- Notas de clase de Modelado, Estabilidad, Sintonizacion e IMC-PID.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el diagrama del sistema realista y señalar donde entra la perturbacion de base.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de donde sale cada ecuacion y por que el actuador introduce un estado adicional.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  <a:p>
            <a:r>
              <a:t>- Notas de clase de Modelado, Estabilidad, Sintonizacion e IMC-PID.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Aclarar la diferencia entre modelo fisico completo y planta nominal usada para analisis y control.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  <a:p>
            <a:r>
              <a:t>- Notas de clase de Modelado, Estabilidad, Sintonizacion e IMC-PID.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Relacionar la estabilidad matematica con la utilidad real del montaje antivibratorio.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  <a:p>
            <a:r>
              <a:t>- Notas de clase de Modelado, Estabilidad, Sintonizacion e IMC-PID.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la respuesta forzada sigue importando, porque la aplicacion real es rechazo de perturbaciones.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  <a:p>
            <a:r>
              <a:t>- Notas de clase de Modelado, Estabilidad, Sintonizacion e IMC-PID.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donde coinciden ambos modelos y donde el modelo realista aporta efectos extra.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el hilo logico completo: modelo reducido, filtro IMC con lambda y parametros finales del PID ideal.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  <a:p>
            <a:r>
              <a:t>- Notas de clase de Modelado, Estabilidad, Sintonizacion e IMC-PID.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Aclarar la conversion desde el PID ideal hasta el bloque implementado en Simulink.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  <a:p>
            <a:r>
              <a:t>- Notas de clase de Modelado, Estabilidad, Sintonizacion e IMC-PID.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Interpretar la grafica como un problema de regulacion y rechazo de perturbaciones, no de seguimiento.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Contrastar explicitamente este resultado con el caso de regulacion para justificar las conclusiones finales.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este slide como respaldo metodologico durante preguntas sobre desempeno.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Cerrar destacando la coherencia entre el contexto fisico del proyecto y la interpretacion final de los resultados.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  <a:p>
            <a:r>
              <a:t>- Notas de clase de Modelado, Estabilidad, Sintonizacion e IMC-PID.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Dejar listo este espacio para insertar la imagen o frame del bono.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slide debe coincidir con la declaracion del informe final sobre uso de IA y herramientas de apoyo.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Sirve para responder preguntas sobre ecuaciones, orden de la planta y parametros finales del controlador.</a:t>
            </a:r>
          </a:p>
          <a:p>
            <a:endParaRPr/>
          </a:p>
          <a:p>
            <a:r>
              <a:t>[Sources]</a:t>
            </a:r>
          </a:p>
          <a:p>
            <a:r>
              <a:t>- Actividad 2 de Control, desarrollo propio del modelo y simulaciones del proyecto.</a:t>
            </a:r>
          </a:p>
          <a:p>
            <a:r>
              <a:t>- Notas de clase de Modelado, Estabilidad, Sintonizacion e IMC-PID.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4D2D3B9-EB55-497F-A3D9-1BCA6547B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9923A54-0BA3-4169-BEA0-A2A605EE7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DD53332-E2E9-4498-80CA-36ABAEE8ABB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B553F63-257A-4D0D-A4D1-17652E756D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3F756B2-143B-4DF5-96FF-66A72223A1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DD65256-1497-4E1A-8E08-2E2EDCE1D88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F3F756B2-143B-4DF5-96FF-66A72223A1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D7352489-ED18-4BA6-9350-0FE4722504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C8BB216-BA33-4A1C-A54A-C0CC92E44068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" cy="43338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AA3B1E-31BB-4292-84AC-05F6FDEBB1B5}"/>
              </a:ext>
            </a:extLst>
          </p:cNvPr>
          <p:cNvSpPr>
            <a:spLocks noGrp="1"/>
          </p:cNvSpPr>
          <p:nvPr/>
        </p:nvSpPr>
        <p:spPr>
          <a:xfrm>
            <a:off x="819150" y="8382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ACTIVIDAD 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FF8246D-481D-4AB9-BD88-9F0883E69829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7810500" cy="175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01214"/>
                </a:solidFill>
              </a:defRPr>
            </a:pPr>
            <a:r>
              <a:rPr lang="es-ES_tradnl" sz="3600" b="1" dirty="0">
                <a:solidFill>
                  <a:srgbClr val="101214"/>
                </a:solidFill>
              </a:rPr>
              <a:t>Plataforma Anti vibratoria Activa para un Sensor de Ultrasonido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536E880-BCB9-4EF3-95EB-452D1AD484B5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60579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0363A"/>
                </a:solidFill>
              </a:defRPr>
            </a:pPr>
            <a:r>
              <a:rPr lang="es-ES_tradnl" sz="1500" b="0" dirty="0">
                <a:solidFill>
                  <a:srgbClr val="30363A"/>
                </a:solidFill>
              </a:rPr>
              <a:t>Proyecto de control orientado al rechazo de perturbaciones en un montaje de laboratorio para detección de plagas en papas.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34FA5CCD-5765-4FA1-9281-8ED525DB3434}"/>
              </a:ext>
            </a:extLst>
          </p:cNvPr>
          <p:cNvSpPr>
            <a:spLocks noGrp="1"/>
          </p:cNvSpPr>
          <p:nvPr/>
        </p:nvSpPr>
        <p:spPr>
          <a:xfrm>
            <a:off x="819150" y="4343400"/>
            <a:ext cx="3924300" cy="876300"/>
          </a:xfrm>
          <a:prstGeom prst="roundRect">
            <a:avLst>
              <a:gd name="adj" fmla="val 8696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1B84463-0245-4721-841D-D9888C0F2AA9}"/>
              </a:ext>
            </a:extLst>
          </p:cNvPr>
          <p:cNvSpPr>
            <a:spLocks noGrp="1"/>
          </p:cNvSpPr>
          <p:nvPr/>
        </p:nvSpPr>
        <p:spPr>
          <a:xfrm>
            <a:off x="1066800" y="4552950"/>
            <a:ext cx="342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Objetivo central: r(t)=0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741526A5-3D46-4EDA-9D5E-9F1690143BB1}"/>
              </a:ext>
            </a:extLst>
          </p:cNvPr>
          <p:cNvSpPr>
            <a:spLocks noGrp="1"/>
          </p:cNvSpPr>
          <p:nvPr/>
        </p:nvSpPr>
        <p:spPr>
          <a:xfrm>
            <a:off x="9029700" y="838200"/>
            <a:ext cx="1771650" cy="247650"/>
          </a:xfrm>
          <a:prstGeom prst="roundRect">
            <a:avLst>
              <a:gd name="adj" fmla="val 30769"/>
            </a:avLst>
          </a:prstGeom>
          <a:solidFill>
            <a:srgbClr val="116B4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5F8BC71-5905-4D0F-A3FF-A2C959896F69}"/>
              </a:ext>
            </a:extLst>
          </p:cNvPr>
          <p:cNvSpPr>
            <a:spLocks noGrp="1"/>
          </p:cNvSpPr>
          <p:nvPr/>
        </p:nvSpPr>
        <p:spPr>
          <a:xfrm>
            <a:off x="9144000" y="885825"/>
            <a:ext cx="1543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DECK PRINCIPAL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68A20E29-080B-45D6-93E2-C00DDE7CAF0F}"/>
              </a:ext>
            </a:extLst>
          </p:cNvPr>
          <p:cNvSpPr>
            <a:spLocks noGrp="1"/>
          </p:cNvSpPr>
          <p:nvPr/>
        </p:nvSpPr>
        <p:spPr>
          <a:xfrm>
            <a:off x="8991600" y="1333500"/>
            <a:ext cx="2190750" cy="1562100"/>
          </a:xfrm>
          <a:prstGeom prst="roundRect">
            <a:avLst>
              <a:gd name="adj" fmla="val 487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2FF60C5-70BF-42CE-9A9F-FC38CA83EE42}"/>
              </a:ext>
            </a:extLst>
          </p:cNvPr>
          <p:cNvSpPr>
            <a:spLocks noGrp="1"/>
          </p:cNvSpPr>
          <p:nvPr/>
        </p:nvSpPr>
        <p:spPr>
          <a:xfrm>
            <a:off x="9220200" y="1543050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Mensaje clave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8947546-27AD-4ACD-89EB-2C760D80C276}"/>
              </a:ext>
            </a:extLst>
          </p:cNvPr>
          <p:cNvSpPr>
            <a:spLocks noGrp="1"/>
          </p:cNvSpPr>
          <p:nvPr/>
        </p:nvSpPr>
        <p:spPr>
          <a:xfrm>
            <a:off x="9220200" y="1866900"/>
            <a:ext cx="17335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01214"/>
                </a:solidFill>
              </a:defRPr>
            </a:pPr>
            <a:r>
              <a:rPr lang="es-ES_tradnl" sz="1050" b="0" dirty="0">
                <a:solidFill>
                  <a:srgbClr val="101214"/>
                </a:solidFill>
              </a:rPr>
              <a:t>• Rechazo de perturbaciones</a:t>
            </a:r>
          </a:p>
          <a:p>
            <a:pPr algn="l">
              <a:defRPr sz="1050" b="0">
                <a:solidFill>
                  <a:srgbClr val="101214"/>
                </a:solidFill>
              </a:defRPr>
            </a:pPr>
            <a:r>
              <a:rPr lang="es-ES_tradnl" sz="1050" b="0" dirty="0">
                <a:solidFill>
                  <a:srgbClr val="101214"/>
                </a:solidFill>
              </a:rPr>
              <a:t>• Sensor ultrasónico sensible</a:t>
            </a:r>
          </a:p>
          <a:p>
            <a:pPr algn="l">
              <a:defRPr sz="1050" b="0">
                <a:solidFill>
                  <a:srgbClr val="101214"/>
                </a:solidFill>
              </a:defRPr>
            </a:pPr>
            <a:r>
              <a:rPr lang="es-ES_tradnl" sz="1050" b="0" dirty="0">
                <a:solidFill>
                  <a:srgbClr val="101214"/>
                </a:solidFill>
              </a:rPr>
              <a:t>• Regulación con r(t)=0</a:t>
            </a:r>
          </a:p>
          <a:p>
            <a:pPr algn="l">
              <a:defRPr sz="1050" b="0">
                <a:solidFill>
                  <a:srgbClr val="101214"/>
                </a:solidFill>
              </a:defRPr>
            </a:pPr>
            <a:r>
              <a:rPr lang="es-ES_tradnl" sz="1050" b="0" dirty="0">
                <a:solidFill>
                  <a:srgbClr val="101214"/>
                </a:solidFill>
              </a:rPr>
              <a:t>• Seguimiento solo como caso complementario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D7194CE-6BC5-464D-98CD-D4B9C01C02E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Enunciado Actividad 2, Curso de Control, 2026. · Desarrollo propio del grupo a partir del modelado fisico del sistema.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D0FD436-8E18-4649-87C3-473481A21DF5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6CDEFF5-33A3-467D-A4CE-88254B8371C7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</p:spTree>
    <p:extLst>
      <p:ext uri="{BB962C8B-B14F-4D97-AF65-F5344CB8AC3E}">
        <p14:creationId xmlns:p14="http://schemas.microsoft.com/office/powerpoint/2010/main" val="187192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F3F756B2-143B-4DF5-96FF-66A72223A1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BF1E7CA7-36E8-454C-8216-B4E2E5EC70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607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2E5BD86-E482-41B6-815F-D939AA1C821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CONTENIDO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BD64E58-E56F-4600-B06C-5A8F541ABDC2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19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7E6CCE7-7EB0-4D14-9CB8-2586591BADEA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05793CD-0E82-4901-85EA-EDEB48D402A6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6060BA1-2176-42E7-A33D-A91C23A76108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572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Ruta de la sustentacion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BB7D5AB-1111-46E4-B3D8-A0B331A128A9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La presentacion se divide en un bloque principal de exposicion y un bloque final de respaldo tecnico.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5299BE07-7FCD-4967-B142-C8C11CF4FFB6}"/>
              </a:ext>
            </a:extLst>
          </p:cNvPr>
          <p:cNvSpPr>
            <a:spLocks noGrp="1"/>
          </p:cNvSpPr>
          <p:nvPr/>
        </p:nvSpPr>
        <p:spPr>
          <a:xfrm>
            <a:off x="800100" y="2743200"/>
            <a:ext cx="49530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1E0EE65-CCB8-4B89-8DE3-A8557DE5F6A5}"/>
              </a:ext>
            </a:extLst>
          </p:cNvPr>
          <p:cNvSpPr>
            <a:spLocks noGrp="1"/>
          </p:cNvSpPr>
          <p:nvPr/>
        </p:nvSpPr>
        <p:spPr>
          <a:xfrm>
            <a:off x="800100" y="2743200"/>
            <a:ext cx="76200" cy="2857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72A2227-BBB0-4DEA-BDE5-5111256267A9}"/>
              </a:ext>
            </a:extLst>
          </p:cNvPr>
          <p:cNvSpPr>
            <a:spLocks noGrp="1"/>
          </p:cNvSpPr>
          <p:nvPr/>
        </p:nvSpPr>
        <p:spPr>
          <a:xfrm>
            <a:off x="1028700" y="2914650"/>
            <a:ext cx="449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6B49"/>
                </a:solidFill>
              </a:defRPr>
            </a:pPr>
            <a:r>
              <a:rPr sz="1200" b="1">
                <a:solidFill>
                  <a:srgbClr val="116B49"/>
                </a:solidFill>
              </a:rPr>
              <a:t>Bloque principal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1A80402-4B5B-4B8A-AB3A-C9ADA4E012B9}"/>
              </a:ext>
            </a:extLst>
          </p:cNvPr>
          <p:cNvSpPr>
            <a:spLocks noGrp="1"/>
          </p:cNvSpPr>
          <p:nvPr/>
        </p:nvSpPr>
        <p:spPr>
          <a:xfrm>
            <a:off x="1028700" y="3295650"/>
            <a:ext cx="4495800" cy="211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• Contexto de aplicación y objetivo de control.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• Modelo realista, modelo físico y planta nominal.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• Estabilidad, comparación en lazo abierto y reducción.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• Sintonía IMC-PID e implementación en </a:t>
            </a:r>
            <a:r>
              <a:rPr lang="es-ES_tradnl" sz="1125" b="0" dirty="0" err="1">
                <a:solidFill>
                  <a:srgbClr val="101214"/>
                </a:solidFill>
              </a:rPr>
              <a:t>Simulink</a:t>
            </a:r>
            <a:r>
              <a:rPr lang="es-ES_tradnl" sz="1125" b="0" dirty="0">
                <a:solidFill>
                  <a:srgbClr val="101214"/>
                </a:solidFill>
              </a:rPr>
              <a:t>.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• Resultados en regulación y seguimiento.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8BC78EEE-F88B-4CB4-AEF6-F96140B88C11}"/>
              </a:ext>
            </a:extLst>
          </p:cNvPr>
          <p:cNvSpPr>
            <a:spLocks noGrp="1"/>
          </p:cNvSpPr>
          <p:nvPr/>
        </p:nvSpPr>
        <p:spPr>
          <a:xfrm>
            <a:off x="6438900" y="2743200"/>
            <a:ext cx="49530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C68B4EA-4115-465A-B05B-B08D10AFF772}"/>
              </a:ext>
            </a:extLst>
          </p:cNvPr>
          <p:cNvSpPr>
            <a:spLocks noGrp="1"/>
          </p:cNvSpPr>
          <p:nvPr/>
        </p:nvSpPr>
        <p:spPr>
          <a:xfrm>
            <a:off x="6438900" y="2743200"/>
            <a:ext cx="76200" cy="2857500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A55A473-0BC6-47FB-8D46-E150C93EC7F6}"/>
              </a:ext>
            </a:extLst>
          </p:cNvPr>
          <p:cNvSpPr>
            <a:spLocks noGrp="1"/>
          </p:cNvSpPr>
          <p:nvPr/>
        </p:nvSpPr>
        <p:spPr>
          <a:xfrm>
            <a:off x="6667500" y="2914650"/>
            <a:ext cx="449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6B49"/>
                </a:solidFill>
              </a:defRPr>
            </a:pPr>
            <a:r>
              <a:rPr sz="1200" b="1">
                <a:solidFill>
                  <a:srgbClr val="116B49"/>
                </a:solidFill>
              </a:rPr>
              <a:t>Bloque de respaldo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32883BC-1F09-4416-8BA2-704163BF8194}"/>
              </a:ext>
            </a:extLst>
          </p:cNvPr>
          <p:cNvSpPr>
            <a:spLocks noGrp="1"/>
          </p:cNvSpPr>
          <p:nvPr/>
        </p:nvSpPr>
        <p:spPr>
          <a:xfrm>
            <a:off x="6667500" y="3295650"/>
            <a:ext cx="4495800" cy="211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• Tabla de métricas estimadas.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• Conclusiones del proyecto.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• Bono de visualización 3D.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• Uso de IA y apoyo computacional.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• Respaldo técnico con formulas clave</a:t>
            </a:r>
            <a:r>
              <a:rPr sz="1125" b="0" dirty="0">
                <a:solidFill>
                  <a:srgbClr val="101214"/>
                </a:solidFill>
              </a:rPr>
              <a:t>.</a:t>
            </a:r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8AD1E49D-A69C-4601-A154-54BA7E553852}"/>
              </a:ext>
            </a:extLst>
          </p:cNvPr>
          <p:cNvSpPr>
            <a:spLocks noGrp="1"/>
          </p:cNvSpPr>
          <p:nvPr/>
        </p:nvSpPr>
        <p:spPr>
          <a:xfrm>
            <a:off x="800100" y="5791200"/>
            <a:ext cx="10591800" cy="419100"/>
          </a:xfrm>
          <a:prstGeom prst="roundRect">
            <a:avLst>
              <a:gd name="adj" fmla="val 1818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DBEE810-6CFC-4DE0-A728-D4255E7B0740}"/>
              </a:ext>
            </a:extLst>
          </p:cNvPr>
          <p:cNvSpPr>
            <a:spLocks noGrp="1"/>
          </p:cNvSpPr>
          <p:nvPr/>
        </p:nvSpPr>
        <p:spPr>
          <a:xfrm>
            <a:off x="1028700" y="5905500"/>
            <a:ext cx="10134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0363A"/>
                </a:solidFill>
              </a:defRPr>
            </a:pPr>
            <a:r>
              <a:rPr sz="900" b="0">
                <a:solidFill>
                  <a:srgbClr val="30363A"/>
                </a:solidFill>
              </a:rPr>
              <a:t>El recorrido principal llega hasta resultados; el bloque final queda para preguntas del profesor o profundizacion tecnica.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5229A95-E82F-4E33-B5C2-25531135B60E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Enunciado Actividad 2, Curso de Control, 2026. · Desarrollo propio del grupo a partir del modelado fisico del sistema.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AD79239-72EB-460B-BACE-C75BBEC5A670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CF27B77-3397-43E9-A570-EABAC1362FE6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</p:spTree>
    <p:extLst>
      <p:ext uri="{BB962C8B-B14F-4D97-AF65-F5344CB8AC3E}">
        <p14:creationId xmlns:p14="http://schemas.microsoft.com/office/powerpoint/2010/main" val="2060610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F3F756B2-143B-4DF5-96FF-66A72223A1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203A14A3-3DE6-4B4C-BB43-FCB9905F70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69DD2E3-B26B-4914-BE6C-DD4FAA4F492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CONTEXTO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207B793-D734-4C4F-86F4-F6536D997E42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19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70CC553-25FC-4529-9E03-C0B708F2F1E4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AB1EE84-2117-4BB8-AAE2-2A6B540CEB54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87F0B21-B3B4-49F4-BDB6-EE456D81D429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191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 dirty="0" err="1">
                <a:solidFill>
                  <a:srgbClr val="101214"/>
                </a:solidFill>
              </a:rPr>
              <a:t>Problema</a:t>
            </a:r>
            <a:r>
              <a:rPr sz="3000" b="1" dirty="0">
                <a:solidFill>
                  <a:srgbClr val="101214"/>
                </a:solidFill>
              </a:rPr>
              <a:t> y </a:t>
            </a:r>
            <a:r>
              <a:rPr sz="3000" b="1" dirty="0" err="1">
                <a:solidFill>
                  <a:srgbClr val="101214"/>
                </a:solidFill>
              </a:rPr>
              <a:t>contexto</a:t>
            </a:r>
            <a:r>
              <a:rPr sz="3000" b="1" dirty="0">
                <a:solidFill>
                  <a:srgbClr val="101214"/>
                </a:solidFill>
              </a:rPr>
              <a:t> de </a:t>
            </a:r>
            <a:r>
              <a:rPr sz="3000" b="1" dirty="0" err="1">
                <a:solidFill>
                  <a:srgbClr val="101214"/>
                </a:solidFill>
              </a:rPr>
              <a:t>aplicaci</a:t>
            </a:r>
            <a:r>
              <a:rPr lang="es-CO" sz="3000" b="1" dirty="0" err="1">
                <a:solidFill>
                  <a:srgbClr val="101214"/>
                </a:solidFill>
              </a:rPr>
              <a:t>ó</a:t>
            </a:r>
            <a:r>
              <a:rPr sz="3000" b="1" dirty="0">
                <a:solidFill>
                  <a:srgbClr val="101214"/>
                </a:solidFill>
              </a:rPr>
              <a:t>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ADDC24-0CE7-4F7F-A874-19EFCD004AE9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lang="es-ES_tradnl" sz="1425" b="0" dirty="0">
                <a:solidFill>
                  <a:srgbClr val="30363A"/>
                </a:solidFill>
              </a:rPr>
              <a:t>El montaje de laboratorio usa un sensor de ultrasonido para detectar plagas en papas y la </a:t>
            </a:r>
            <a:r>
              <a:rPr lang="es-ES_tradnl" sz="1425" b="0" dirty="0" err="1">
                <a:solidFill>
                  <a:srgbClr val="30363A"/>
                </a:solidFill>
              </a:rPr>
              <a:t>vibracion</a:t>
            </a:r>
            <a:r>
              <a:rPr lang="es-ES_tradnl" sz="1425" b="0" dirty="0">
                <a:solidFill>
                  <a:srgbClr val="30363A"/>
                </a:solidFill>
              </a:rPr>
              <a:t> de la mesa altera la medición.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2F48145E-CC79-44D3-9478-63DAD1948394}"/>
              </a:ext>
            </a:extLst>
          </p:cNvPr>
          <p:cNvSpPr>
            <a:spLocks noGrp="1"/>
          </p:cNvSpPr>
          <p:nvPr/>
        </p:nvSpPr>
        <p:spPr>
          <a:xfrm>
            <a:off x="800100" y="3524250"/>
            <a:ext cx="3378200" cy="2247900"/>
          </a:xfrm>
          <a:prstGeom prst="roundRect">
            <a:avLst>
              <a:gd name="adj" fmla="val 3390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1058760-15C9-422D-AA1C-B5D032E24C2A}"/>
              </a:ext>
            </a:extLst>
          </p:cNvPr>
          <p:cNvSpPr>
            <a:spLocks noGrp="1"/>
          </p:cNvSpPr>
          <p:nvPr/>
        </p:nvSpPr>
        <p:spPr>
          <a:xfrm>
            <a:off x="800100" y="3524250"/>
            <a:ext cx="76200" cy="22479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81D7937-7292-4171-931C-3C753624D89E}"/>
              </a:ext>
            </a:extLst>
          </p:cNvPr>
          <p:cNvSpPr>
            <a:spLocks noGrp="1"/>
          </p:cNvSpPr>
          <p:nvPr/>
        </p:nvSpPr>
        <p:spPr>
          <a:xfrm>
            <a:off x="1009650" y="37528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F280DA4-0B65-43AD-AF5D-C23126D336AC}"/>
              </a:ext>
            </a:extLst>
          </p:cNvPr>
          <p:cNvSpPr>
            <a:spLocks noGrp="1"/>
          </p:cNvSpPr>
          <p:nvPr/>
        </p:nvSpPr>
        <p:spPr>
          <a:xfrm>
            <a:off x="1162050" y="40290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3007982-BEDC-4863-81C8-7EA088C865F4}"/>
              </a:ext>
            </a:extLst>
          </p:cNvPr>
          <p:cNvSpPr>
            <a:spLocks noGrp="1"/>
          </p:cNvSpPr>
          <p:nvPr/>
        </p:nvSpPr>
        <p:spPr>
          <a:xfrm>
            <a:off x="1247775" y="39528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988964A-9DD2-4702-A2A9-E754D388F9CE}"/>
              </a:ext>
            </a:extLst>
          </p:cNvPr>
          <p:cNvSpPr>
            <a:spLocks noGrp="1"/>
          </p:cNvSpPr>
          <p:nvPr/>
        </p:nvSpPr>
        <p:spPr>
          <a:xfrm>
            <a:off x="1333500" y="38862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69D35AC-78AC-441D-B5EB-8F79973CFFEC}"/>
              </a:ext>
            </a:extLst>
          </p:cNvPr>
          <p:cNvSpPr>
            <a:spLocks noGrp="1"/>
          </p:cNvSpPr>
          <p:nvPr/>
        </p:nvSpPr>
        <p:spPr>
          <a:xfrm>
            <a:off x="1638300" y="3733800"/>
            <a:ext cx="234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Aplicacion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32C0469-CB1C-4C0B-8A75-4DA3200EDCB8}"/>
              </a:ext>
            </a:extLst>
          </p:cNvPr>
          <p:cNvSpPr>
            <a:spLocks noGrp="1"/>
          </p:cNvSpPr>
          <p:nvPr/>
        </p:nvSpPr>
        <p:spPr>
          <a:xfrm>
            <a:off x="1028700" y="4343400"/>
            <a:ext cx="29210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El proyecto se motiva por una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prueba de laboratorio donde la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variable observada depende de la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distancia medida por un sensor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de ultrasonido.</a:t>
            </a:r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D2029065-C8C4-4043-8C5A-B4C04BA1047B}"/>
              </a:ext>
            </a:extLst>
          </p:cNvPr>
          <p:cNvSpPr>
            <a:spLocks noGrp="1"/>
          </p:cNvSpPr>
          <p:nvPr/>
        </p:nvSpPr>
        <p:spPr>
          <a:xfrm>
            <a:off x="4406900" y="3524250"/>
            <a:ext cx="3378200" cy="2247900"/>
          </a:xfrm>
          <a:prstGeom prst="roundRect">
            <a:avLst>
              <a:gd name="adj" fmla="val 3390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5F24FF4-DB1C-46A0-BFC3-9D80C7647049}"/>
              </a:ext>
            </a:extLst>
          </p:cNvPr>
          <p:cNvSpPr>
            <a:spLocks noGrp="1"/>
          </p:cNvSpPr>
          <p:nvPr/>
        </p:nvSpPr>
        <p:spPr>
          <a:xfrm>
            <a:off x="4406900" y="3524250"/>
            <a:ext cx="76200" cy="22479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7731A346-FC7A-4331-BC70-98909AB33BB1}"/>
              </a:ext>
            </a:extLst>
          </p:cNvPr>
          <p:cNvSpPr>
            <a:spLocks noGrp="1"/>
          </p:cNvSpPr>
          <p:nvPr/>
        </p:nvSpPr>
        <p:spPr>
          <a:xfrm>
            <a:off x="4616450" y="37528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72BC3AAB-D1C9-417B-A802-1F3C89E13D77}"/>
              </a:ext>
            </a:extLst>
          </p:cNvPr>
          <p:cNvSpPr>
            <a:spLocks noGrp="1"/>
          </p:cNvSpPr>
          <p:nvPr/>
        </p:nvSpPr>
        <p:spPr>
          <a:xfrm>
            <a:off x="4740275" y="39243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DBA1CF30-CD6C-4C8F-AE42-66BAEAA84067}"/>
              </a:ext>
            </a:extLst>
          </p:cNvPr>
          <p:cNvSpPr>
            <a:spLocks noGrp="1"/>
          </p:cNvSpPr>
          <p:nvPr/>
        </p:nvSpPr>
        <p:spPr>
          <a:xfrm>
            <a:off x="4911725" y="40100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2CF074D-D215-436D-B9CF-184E064664CB}"/>
              </a:ext>
            </a:extLst>
          </p:cNvPr>
          <p:cNvSpPr>
            <a:spLocks noGrp="1"/>
          </p:cNvSpPr>
          <p:nvPr/>
        </p:nvSpPr>
        <p:spPr>
          <a:xfrm>
            <a:off x="4826000" y="39909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116E720-9E1C-4B78-92AF-0DE78A80EFEC}"/>
              </a:ext>
            </a:extLst>
          </p:cNvPr>
          <p:cNvSpPr>
            <a:spLocks noGrp="1"/>
          </p:cNvSpPr>
          <p:nvPr/>
        </p:nvSpPr>
        <p:spPr>
          <a:xfrm>
            <a:off x="5245100" y="3733800"/>
            <a:ext cx="234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Problema fisico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2C1FA8F-690E-4E99-99FB-FB9A36CA7C68}"/>
              </a:ext>
            </a:extLst>
          </p:cNvPr>
          <p:cNvSpPr>
            <a:spLocks noGrp="1"/>
          </p:cNvSpPr>
          <p:nvPr/>
        </p:nvSpPr>
        <p:spPr>
          <a:xfrm>
            <a:off x="4635500" y="4343400"/>
            <a:ext cx="29210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Si la mesa vibra, cambia la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posición relativa del sensor y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aparecen errores de lectura que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no corresponden al estado real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del objeto medido.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A5AA4B1E-3727-4CE6-8608-E99AED55EC1B}"/>
              </a:ext>
            </a:extLst>
          </p:cNvPr>
          <p:cNvSpPr>
            <a:spLocks noGrp="1"/>
          </p:cNvSpPr>
          <p:nvPr/>
        </p:nvSpPr>
        <p:spPr>
          <a:xfrm>
            <a:off x="8013700" y="3524250"/>
            <a:ext cx="3378200" cy="2247900"/>
          </a:xfrm>
          <a:prstGeom prst="roundRect">
            <a:avLst>
              <a:gd name="adj" fmla="val 3390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352CD0A-599F-4D8A-8CAC-25BA303D58E2}"/>
              </a:ext>
            </a:extLst>
          </p:cNvPr>
          <p:cNvSpPr>
            <a:spLocks noGrp="1"/>
          </p:cNvSpPr>
          <p:nvPr/>
        </p:nvSpPr>
        <p:spPr>
          <a:xfrm>
            <a:off x="8013700" y="3524250"/>
            <a:ext cx="76200" cy="22479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803A4F90-DDFE-4F84-8107-1D34271A3241}"/>
              </a:ext>
            </a:extLst>
          </p:cNvPr>
          <p:cNvSpPr>
            <a:spLocks noGrp="1"/>
          </p:cNvSpPr>
          <p:nvPr/>
        </p:nvSpPr>
        <p:spPr>
          <a:xfrm>
            <a:off x="8223250" y="37528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07857F63-5162-480F-9BE7-8D9935633F11}"/>
              </a:ext>
            </a:extLst>
          </p:cNvPr>
          <p:cNvSpPr>
            <a:spLocks noGrp="1"/>
          </p:cNvSpPr>
          <p:nvPr/>
        </p:nvSpPr>
        <p:spPr>
          <a:xfrm>
            <a:off x="8347075" y="38957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AA54A511-06A1-411D-97CC-060674A45C32}"/>
              </a:ext>
            </a:extLst>
          </p:cNvPr>
          <p:cNvSpPr>
            <a:spLocks noGrp="1"/>
          </p:cNvSpPr>
          <p:nvPr/>
        </p:nvSpPr>
        <p:spPr>
          <a:xfrm>
            <a:off x="8394700" y="39814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CB8B2C25-B844-44EE-B6A4-EC6693F9CC9C}"/>
              </a:ext>
            </a:extLst>
          </p:cNvPr>
          <p:cNvSpPr>
            <a:spLocks noGrp="1"/>
          </p:cNvSpPr>
          <p:nvPr/>
        </p:nvSpPr>
        <p:spPr>
          <a:xfrm>
            <a:off x="8442325" y="40671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F824308-38EE-4954-9227-00D04FDA7987}"/>
              </a:ext>
            </a:extLst>
          </p:cNvPr>
          <p:cNvSpPr>
            <a:spLocks noGrp="1"/>
          </p:cNvSpPr>
          <p:nvPr/>
        </p:nvSpPr>
        <p:spPr>
          <a:xfrm>
            <a:off x="8851900" y="3733800"/>
            <a:ext cx="234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Necesidad de control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8D53A71-B294-46FF-916F-4BEEE4BBF73A}"/>
              </a:ext>
            </a:extLst>
          </p:cNvPr>
          <p:cNvSpPr>
            <a:spLocks noGrp="1"/>
          </p:cNvSpPr>
          <p:nvPr/>
        </p:nvSpPr>
        <p:spPr>
          <a:xfrm>
            <a:off x="8242300" y="4343400"/>
            <a:ext cx="29210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La plataforma debe permanecer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prácticamente inmóvil para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conservar la calidad de medición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aun cuando la base reciba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perturbaciones externas.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0740053-B241-499A-B144-638431DE95CB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Enunciado Actividad 2, Curso de Control, 2026. · Desarrollo propio del grupo a partir del modelado fisico del sistema.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D787AB2-97B1-404E-960F-8059EF736EF7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C66E5A82-B1CE-494F-A73F-1627A0D4562E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</p:spTree>
    <p:extLst>
      <p:ext uri="{BB962C8B-B14F-4D97-AF65-F5344CB8AC3E}">
        <p14:creationId xmlns:p14="http://schemas.microsoft.com/office/powerpoint/2010/main" val="300612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F3F756B2-143B-4DF5-96FF-66A72223A1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E077C9D9-2BE3-4A3C-B700-01A1099AC3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1CE8EA3-B220-4274-9278-485A8B82676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OBJETIVO DE CONTROL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8E3C2A5-B500-4BB9-8592-0F4434F22A95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19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FD28C91-895A-43A7-A31C-57633E5B530B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1318758-A33D-48EA-A10E-846DC18FB564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E783C5F-78CC-4F6A-B456-D792B81F83CE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810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Objetivo de control y por que la planta es de tercer orden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40EE2C-1D92-4E59-A7E7-F1C73AA36FB3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7810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El caso principal es regulacion con r(t)=0 y la planta nominal tiene tres estados: posicion relativa, velocidad y corriente del actuador.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F0912A4A-EBF5-4D5A-A343-C4CE7CE95AD4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142DBA4-8DAF-44C6-96E1-7861569BD87E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3143250" cy="666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E43CA68-A5C0-43AA-96DB-3DB741FB530F}"/>
              </a:ext>
            </a:extLst>
          </p:cNvPr>
          <p:cNvSpPr>
            <a:spLocks noGrp="1"/>
          </p:cNvSpPr>
          <p:nvPr/>
        </p:nvSpPr>
        <p:spPr>
          <a:xfrm>
            <a:off x="1085850" y="39624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Orden 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ECC1F5B-F1E0-4B7A-9C66-7CDD056B1C49}"/>
              </a:ext>
            </a:extLst>
          </p:cNvPr>
          <p:cNvSpPr>
            <a:spLocks noGrp="1"/>
          </p:cNvSpPr>
          <p:nvPr/>
        </p:nvSpPr>
        <p:spPr>
          <a:xfrm>
            <a:off x="1104900" y="45148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Dos estados mecanicos + uno electrico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07644C8-2FCF-4488-979C-F8AD42959D60}"/>
              </a:ext>
            </a:extLst>
          </p:cNvPr>
          <p:cNvSpPr>
            <a:spLocks noGrp="1"/>
          </p:cNvSpPr>
          <p:nvPr/>
        </p:nvSpPr>
        <p:spPr>
          <a:xfrm>
            <a:off x="1104900" y="49911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q, q̇, i</a:t>
            </a:r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8D67CD14-07FD-4919-8103-BE4095249966}"/>
              </a:ext>
            </a:extLst>
          </p:cNvPr>
          <p:cNvSpPr>
            <a:spLocks noGrp="1"/>
          </p:cNvSpPr>
          <p:nvPr/>
        </p:nvSpPr>
        <p:spPr>
          <a:xfrm>
            <a:off x="4400550" y="37338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018C23E-604C-426B-A35C-856CD8574C9D}"/>
              </a:ext>
            </a:extLst>
          </p:cNvPr>
          <p:cNvSpPr>
            <a:spLocks noGrp="1"/>
          </p:cNvSpPr>
          <p:nvPr/>
        </p:nvSpPr>
        <p:spPr>
          <a:xfrm>
            <a:off x="4400550" y="3733800"/>
            <a:ext cx="3143250" cy="66675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3327894-F221-42B0-9A15-A7213886EA8B}"/>
              </a:ext>
            </a:extLst>
          </p:cNvPr>
          <p:cNvSpPr>
            <a:spLocks noGrp="1"/>
          </p:cNvSpPr>
          <p:nvPr/>
        </p:nvSpPr>
        <p:spPr>
          <a:xfrm>
            <a:off x="4610100" y="39624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r(t)=0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9B9D4DC-FDFC-4058-A06D-EA1317C6628A}"/>
              </a:ext>
            </a:extLst>
          </p:cNvPr>
          <p:cNvSpPr>
            <a:spLocks noGrp="1"/>
          </p:cNvSpPr>
          <p:nvPr/>
        </p:nvSpPr>
        <p:spPr>
          <a:xfrm>
            <a:off x="4629150" y="45148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Setpoint fijo en regulacion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37DE5A3-2775-4100-A356-7FB5A7F9A7D8}"/>
              </a:ext>
            </a:extLst>
          </p:cNvPr>
          <p:cNvSpPr>
            <a:spLocks noGrp="1"/>
          </p:cNvSpPr>
          <p:nvPr/>
        </p:nvSpPr>
        <p:spPr>
          <a:xfrm>
            <a:off x="4629150" y="49911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Caso principal</a:t>
            </a: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DC175D95-F90A-4B3C-8052-1455C819BAB5}"/>
              </a:ext>
            </a:extLst>
          </p:cNvPr>
          <p:cNvSpPr>
            <a:spLocks noGrp="1"/>
          </p:cNvSpPr>
          <p:nvPr/>
        </p:nvSpPr>
        <p:spPr>
          <a:xfrm>
            <a:off x="7924800" y="37338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5C66536-1BDB-4C7D-A6D7-3A3C2918E238}"/>
              </a:ext>
            </a:extLst>
          </p:cNvPr>
          <p:cNvSpPr>
            <a:spLocks noGrp="1"/>
          </p:cNvSpPr>
          <p:nvPr/>
        </p:nvSpPr>
        <p:spPr>
          <a:xfrm>
            <a:off x="7924800" y="3733800"/>
            <a:ext cx="3143250" cy="66675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746A357-B909-42C6-834A-610D49A9AE6D}"/>
              </a:ext>
            </a:extLst>
          </p:cNvPr>
          <p:cNvSpPr>
            <a:spLocks noGrp="1"/>
          </p:cNvSpPr>
          <p:nvPr/>
        </p:nvSpPr>
        <p:spPr>
          <a:xfrm>
            <a:off x="8134350" y="39624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u(t)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73C59FB-16FD-4EF5-9888-3F07C75E13FB}"/>
              </a:ext>
            </a:extLst>
          </p:cNvPr>
          <p:cNvSpPr>
            <a:spLocks noGrp="1"/>
          </p:cNvSpPr>
          <p:nvPr/>
        </p:nvSpPr>
        <p:spPr>
          <a:xfrm>
            <a:off x="8153400" y="45148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Voltaje aplicado al actuador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9F466D5-1E5D-4977-B378-C2DE6D186A29}"/>
              </a:ext>
            </a:extLst>
          </p:cNvPr>
          <p:cNvSpPr>
            <a:spLocks noGrp="1"/>
          </p:cNvSpPr>
          <p:nvPr/>
        </p:nvSpPr>
        <p:spPr>
          <a:xfrm>
            <a:off x="8153400" y="49911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Variable manipulada</a:t>
            </a:r>
          </a:p>
        </p:txBody>
      </p:sp>
      <p:sp>
        <p:nvSpPr>
          <p:cNvPr id="25" name="Rectángulo redondeado 24">
            <a:extLst>
              <a:ext uri="{FF2B5EF4-FFF2-40B4-BE49-F238E27FC236}">
                <a16:creationId xmlns:a16="http://schemas.microsoft.com/office/drawing/2014/main" id="{632C900D-AE3D-4B95-B530-2B3ED16A465D}"/>
              </a:ext>
            </a:extLst>
          </p:cNvPr>
          <p:cNvSpPr>
            <a:spLocks noGrp="1"/>
          </p:cNvSpPr>
          <p:nvPr/>
        </p:nvSpPr>
        <p:spPr>
          <a:xfrm>
            <a:off x="800100" y="5581650"/>
            <a:ext cx="10591800" cy="685800"/>
          </a:xfrm>
          <a:prstGeom prst="roundRect">
            <a:avLst>
              <a:gd name="adj" fmla="val 11111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46EF407-59FF-4F73-92BE-D42F7C2FF0FA}"/>
              </a:ext>
            </a:extLst>
          </p:cNvPr>
          <p:cNvSpPr>
            <a:spLocks noGrp="1"/>
          </p:cNvSpPr>
          <p:nvPr/>
        </p:nvSpPr>
        <p:spPr>
          <a:xfrm>
            <a:off x="800100" y="5581650"/>
            <a:ext cx="76200" cy="6858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F0377E0-E707-4F65-B5B3-CE6CC776E9C5}"/>
              </a:ext>
            </a:extLst>
          </p:cNvPr>
          <p:cNvSpPr>
            <a:spLocks noGrp="1"/>
          </p:cNvSpPr>
          <p:nvPr/>
        </p:nvSpPr>
        <p:spPr>
          <a:xfrm>
            <a:off x="1028700" y="5676900"/>
            <a:ext cx="228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6B49"/>
                </a:solidFill>
              </a:defRPr>
            </a:pPr>
            <a:r>
              <a:rPr sz="900" b="1">
                <a:solidFill>
                  <a:srgbClr val="116B49"/>
                </a:solidFill>
              </a:rPr>
              <a:t>Lectura del problema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6A00C33-E06E-4D7E-B9A0-9406A4E1B174}"/>
              </a:ext>
            </a:extLst>
          </p:cNvPr>
          <p:cNvSpPr>
            <a:spLocks noGrp="1"/>
          </p:cNvSpPr>
          <p:nvPr/>
        </p:nvSpPr>
        <p:spPr>
          <a:xfrm>
            <a:off x="3181350" y="5676900"/>
            <a:ext cx="7981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101214"/>
                </a:solidFill>
              </a:defRPr>
            </a:pPr>
            <a:r>
              <a:rPr sz="900" b="0">
                <a:solidFill>
                  <a:srgbClr val="101214"/>
                </a:solidFill>
              </a:rPr>
              <a:t>q es la posicion relativa entre plataforma y base.  ·  q̇ es la velocidad relativa de la plataforma.  ·  i es la corriente interna del actuador.  ·  Por eso el orden del sistema es 2 + 1 = 3.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7F0D278-3E4C-40A5-A39B-3FE73AB77424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N. Quijano, Estabilidad 1, notas de clase. · Desarrollo propio del grupo a partir del modelado fisico del sistema.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083CD91-98A9-475F-A814-E51DF2733E8B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9F5A7A2-E40B-4FC4-BA90-E98E8B17524D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</p:spTree>
    <p:extLst>
      <p:ext uri="{BB962C8B-B14F-4D97-AF65-F5344CB8AC3E}">
        <p14:creationId xmlns:p14="http://schemas.microsoft.com/office/powerpoint/2010/main" val="747649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F756B2-143B-4DF5-96FF-66A72223A1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1A419A02-53E5-4DA2-8B8F-5425572591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74BB8A6-259F-4028-B7BB-126BA87A532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MODELO REALISTA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FA3E47B-E531-4026-95CA-91CF9732A2CE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19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D6738E4-18B6-48D5-9B19-A1E92DAE1910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E20037E-D67A-49EE-8DE2-6ED24FB8255A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B95F69C-6401-46B0-A1A8-436147FE490F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191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Modelo realista del sistema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DDF49E5-3072-45E5-AF2C-6FBF69FEC077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Se representa la base vibrante, la plataforma con el sensor, el resorte, el amortiguador y el actuador.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3689CFCD-C6E8-437F-9EE5-9C09220651E5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40386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3FC4DDD-DF16-4A0A-99DA-F1CDA77238AD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76200" cy="31432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90A03F1-9C77-437E-AA58-518AE1880181}"/>
              </a:ext>
            </a:extLst>
          </p:cNvPr>
          <p:cNvSpPr>
            <a:spLocks noGrp="1"/>
          </p:cNvSpPr>
          <p:nvPr/>
        </p:nvSpPr>
        <p:spPr>
          <a:xfrm>
            <a:off x="1028700" y="2895600"/>
            <a:ext cx="3581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6B49"/>
                </a:solidFill>
              </a:defRPr>
            </a:pPr>
            <a:r>
              <a:rPr sz="1200" b="1">
                <a:solidFill>
                  <a:srgbClr val="116B49"/>
                </a:solidFill>
              </a:rPr>
              <a:t>Elementos del sistema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16A50FC-67F0-4CAA-8786-904B34ABE66F}"/>
              </a:ext>
            </a:extLst>
          </p:cNvPr>
          <p:cNvSpPr>
            <a:spLocks noGrp="1"/>
          </p:cNvSpPr>
          <p:nvPr/>
        </p:nvSpPr>
        <p:spPr>
          <a:xfrm>
            <a:off x="1028700" y="3276600"/>
            <a:ext cx="3581400" cy="2400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• Base o mesa del laboratorio sometida a perturbaciones externas.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• Plataforma superior donde se monta el sensor de ultrasonido.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• Resorte y amortiguador viscoso entre base y plataforma.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• Actuador electromecánico para aplicar fuerza correctiva.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• Modelo realista en </a:t>
            </a:r>
            <a:r>
              <a:rPr lang="es-ES_tradnl" sz="1125" b="0" dirty="0" err="1">
                <a:solidFill>
                  <a:srgbClr val="101214"/>
                </a:solidFill>
              </a:rPr>
              <a:t>Simulink</a:t>
            </a:r>
            <a:r>
              <a:rPr lang="es-ES_tradnl" sz="1125" b="0" dirty="0">
                <a:solidFill>
                  <a:srgbClr val="101214"/>
                </a:solidFill>
              </a:rPr>
              <a:t>/</a:t>
            </a:r>
            <a:r>
              <a:rPr lang="es-ES_tradnl" sz="1125" b="0" dirty="0" err="1">
                <a:solidFill>
                  <a:srgbClr val="101214"/>
                </a:solidFill>
              </a:rPr>
              <a:t>Simscape</a:t>
            </a:r>
            <a:r>
              <a:rPr lang="es-ES_tradnl" sz="1125" b="0" dirty="0">
                <a:solidFill>
                  <a:srgbClr val="101214"/>
                </a:solidFill>
              </a:rPr>
              <a:t> con espacio para saturación y efectos adicionales.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12A0D11D-22BE-4913-B31B-720E1125358B}"/>
              </a:ext>
            </a:extLst>
          </p:cNvPr>
          <p:cNvSpPr>
            <a:spLocks noGrp="1"/>
          </p:cNvSpPr>
          <p:nvPr/>
        </p:nvSpPr>
        <p:spPr>
          <a:xfrm>
            <a:off x="5143500" y="2724150"/>
            <a:ext cx="62484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A94932C-646C-4841-9A3B-2A52D518F318}"/>
              </a:ext>
            </a:extLst>
          </p:cNvPr>
          <p:cNvSpPr>
            <a:spLocks noGrp="1"/>
          </p:cNvSpPr>
          <p:nvPr/>
        </p:nvSpPr>
        <p:spPr>
          <a:xfrm>
            <a:off x="5143500" y="2724150"/>
            <a:ext cx="6248400" cy="76200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2B55683-548A-44A5-BCA4-BC37D0983395}"/>
              </a:ext>
            </a:extLst>
          </p:cNvPr>
          <p:cNvSpPr>
            <a:spLocks noGrp="1"/>
          </p:cNvSpPr>
          <p:nvPr/>
        </p:nvSpPr>
        <p:spPr>
          <a:xfrm>
            <a:off x="5353050" y="2914650"/>
            <a:ext cx="5829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Captura del modelo Simulink / Simscape</a:t>
            </a:r>
          </a:p>
        </p:txBody>
      </p:sp>
      <p:sp>
        <p:nvSpPr>
          <p:cNvPr id="19" name="Rectángulo redondeado 18">
            <a:extLst>
              <a:ext uri="{FF2B5EF4-FFF2-40B4-BE49-F238E27FC236}">
                <a16:creationId xmlns:a16="http://schemas.microsoft.com/office/drawing/2014/main" id="{13D40473-0C03-4B63-811A-9B0E4C8857F4}"/>
              </a:ext>
            </a:extLst>
          </p:cNvPr>
          <p:cNvSpPr>
            <a:spLocks noGrp="1"/>
          </p:cNvSpPr>
          <p:nvPr/>
        </p:nvSpPr>
        <p:spPr>
          <a:xfrm>
            <a:off x="800100" y="6019800"/>
            <a:ext cx="10591800" cy="285750"/>
          </a:xfrm>
          <a:prstGeom prst="roundRect">
            <a:avLst>
              <a:gd name="adj" fmla="val 26667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C7B4080-22AA-41E7-B9EC-FCB1D53114AA}"/>
              </a:ext>
            </a:extLst>
          </p:cNvPr>
          <p:cNvSpPr>
            <a:spLocks noGrp="1"/>
          </p:cNvSpPr>
          <p:nvPr/>
        </p:nvSpPr>
        <p:spPr>
          <a:xfrm>
            <a:off x="1009650" y="6096000"/>
            <a:ext cx="10172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0363A"/>
                </a:solidFill>
              </a:defRPr>
            </a:pPr>
            <a:r>
              <a:rPr sz="825" b="0">
                <a:solidFill>
                  <a:srgbClr val="30363A"/>
                </a:solidFill>
              </a:rPr>
              <a:t>Este slide debe mostrar el montaje realista que luego se compara con el modelo nominal.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1BAB47A-CC56-47A7-8F0C-A1F30545697D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Enunciado Actividad 2, Curso de Control, 2026. · Desarrollo propio del grupo a partir del modelado fisico del sistema.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B16E548-6927-49A8-AAFD-3331F0ED2402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4595850-4CF8-401C-9A4B-1EFD921700FE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5C8C7E74-6985-B79D-0E49-48C892DD5B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150" y="3147993"/>
            <a:ext cx="4310063" cy="258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694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F3F756B2-143B-4DF5-96FF-66A72223A1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44804A1F-D4B7-4FB2-9E56-414CB508FF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86EA860-2996-43F6-94FC-B34D17BC309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MODELO FISICO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7B90A92-9829-4214-918D-A57F6F67D1D5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19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3B8D89B-A7A2-496B-B5C3-FCBDD0E2A411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278496E-650C-4F62-9A6C-410D982CBC86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74C38DF-F919-4414-A014-82F9A46E159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191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Modelo fisico completo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C532C76-96DF-4C42-B116-BE9873DCDF26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El sistema se plantea con una ecuacion mecanica y un actuador electromecanico lineal acoplado.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D6091744-5568-4451-96C3-1628656E1EDB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514350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6EF7D7A-F4F9-4DC2-830E-EFFABBB6A125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5143500" cy="762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9A78398-5C8C-4382-8DEE-AF54330702B9}"/>
              </a:ext>
            </a:extLst>
          </p:cNvPr>
          <p:cNvSpPr>
            <a:spLocks noGrp="1"/>
          </p:cNvSpPr>
          <p:nvPr/>
        </p:nvSpPr>
        <p:spPr>
          <a:xfrm>
            <a:off x="1009650" y="2819400"/>
            <a:ext cx="472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Ecuacion mecanica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EC82E2F-92C5-4597-8357-379FD1E26779}"/>
              </a:ext>
            </a:extLst>
          </p:cNvPr>
          <p:cNvSpPr>
            <a:spLocks noGrp="1"/>
          </p:cNvSpPr>
          <p:nvPr/>
        </p:nvSpPr>
        <p:spPr>
          <a:xfrm>
            <a:off x="1009650" y="3181350"/>
            <a:ext cx="47244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m q̈ + c q̇ + k q = Fₐ - m z̈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28571B2-413A-4572-8B4A-10FC74F57D87}"/>
              </a:ext>
            </a:extLst>
          </p:cNvPr>
          <p:cNvSpPr>
            <a:spLocks noGrp="1"/>
          </p:cNvSpPr>
          <p:nvPr/>
        </p:nvSpPr>
        <p:spPr>
          <a:xfrm>
            <a:off x="1009650" y="3943350"/>
            <a:ext cx="47244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0363A"/>
                </a:solidFill>
              </a:defRPr>
            </a:pPr>
            <a:r>
              <a:rPr lang="es-ES_tradnl" sz="975" b="0" dirty="0">
                <a:solidFill>
                  <a:srgbClr val="30363A"/>
                </a:solidFill>
              </a:rPr>
              <a:t>• La masa, el resorte y el amortiguamiento reaccionan frente a la fuerza activa y frente a la aceleración de la base.</a:t>
            </a:r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D52A6439-A9AE-4ED7-9427-08E96FF93EC5}"/>
              </a:ext>
            </a:extLst>
          </p:cNvPr>
          <p:cNvSpPr>
            <a:spLocks noGrp="1"/>
          </p:cNvSpPr>
          <p:nvPr/>
        </p:nvSpPr>
        <p:spPr>
          <a:xfrm>
            <a:off x="6248400" y="2647950"/>
            <a:ext cx="514350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616431E-FE36-4C3A-9100-739E71AEC205}"/>
              </a:ext>
            </a:extLst>
          </p:cNvPr>
          <p:cNvSpPr>
            <a:spLocks noGrp="1"/>
          </p:cNvSpPr>
          <p:nvPr/>
        </p:nvSpPr>
        <p:spPr>
          <a:xfrm>
            <a:off x="6248400" y="2647950"/>
            <a:ext cx="5143500" cy="76200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CBC13EC-AC8B-41F6-A52C-B54A7EAB825A}"/>
              </a:ext>
            </a:extLst>
          </p:cNvPr>
          <p:cNvSpPr>
            <a:spLocks noGrp="1"/>
          </p:cNvSpPr>
          <p:nvPr/>
        </p:nvSpPr>
        <p:spPr>
          <a:xfrm>
            <a:off x="6457950" y="2819400"/>
            <a:ext cx="472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Modelo del actuador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BF303CE-B503-4190-9A4E-A6308CF60A48}"/>
              </a:ext>
            </a:extLst>
          </p:cNvPr>
          <p:cNvSpPr>
            <a:spLocks noGrp="1"/>
          </p:cNvSpPr>
          <p:nvPr/>
        </p:nvSpPr>
        <p:spPr>
          <a:xfrm>
            <a:off x="6457950" y="3181350"/>
            <a:ext cx="47244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Fₐ = Kf i</a:t>
            </a:r>
          </a:p>
          <a:p>
            <a:pPr algn="l"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u = L i̇ + R i + Kₑ q̇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D297E57-D5FC-4940-BDA9-E9C3FFF1D927}"/>
              </a:ext>
            </a:extLst>
          </p:cNvPr>
          <p:cNvSpPr>
            <a:spLocks noGrp="1"/>
          </p:cNvSpPr>
          <p:nvPr/>
        </p:nvSpPr>
        <p:spPr>
          <a:xfrm>
            <a:off x="6457950" y="3943350"/>
            <a:ext cx="47244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0363A"/>
                </a:solidFill>
              </a:defRPr>
            </a:pPr>
            <a:r>
              <a:rPr lang="es-ES_tradnl" sz="975" b="0" dirty="0">
                <a:solidFill>
                  <a:srgbClr val="30363A"/>
                </a:solidFill>
              </a:rPr>
              <a:t>• Se toma un actuador electromagnético lineal donde la fuerza es proporcional a la corriente.</a:t>
            </a:r>
          </a:p>
          <a:p>
            <a:pPr algn="l">
              <a:defRPr sz="975" b="0">
                <a:solidFill>
                  <a:srgbClr val="30363A"/>
                </a:solidFill>
              </a:defRPr>
            </a:pPr>
            <a:r>
              <a:rPr lang="es-ES_tradnl" sz="975" b="0" dirty="0">
                <a:solidFill>
                  <a:srgbClr val="30363A"/>
                </a:solidFill>
              </a:rPr>
              <a:t>• La ecuación de voltaje sale del balance eléctrico en la bobina e incluye la fuerza contraelectromotriz Kₑ q̇.</a:t>
            </a: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5C6BE1CB-892E-4F54-80B6-7D882555B4AF}"/>
              </a:ext>
            </a:extLst>
          </p:cNvPr>
          <p:cNvSpPr>
            <a:spLocks noGrp="1"/>
          </p:cNvSpPr>
          <p:nvPr/>
        </p:nvSpPr>
        <p:spPr>
          <a:xfrm>
            <a:off x="800100" y="5143500"/>
            <a:ext cx="10591800" cy="1009650"/>
          </a:xfrm>
          <a:prstGeom prst="roundRect">
            <a:avLst>
              <a:gd name="adj" fmla="val 7547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8ECCD7C-8B3C-4C53-BCEE-E950474DD60F}"/>
              </a:ext>
            </a:extLst>
          </p:cNvPr>
          <p:cNvSpPr>
            <a:spLocks noGrp="1"/>
          </p:cNvSpPr>
          <p:nvPr/>
        </p:nvSpPr>
        <p:spPr>
          <a:xfrm>
            <a:off x="800100" y="5143500"/>
            <a:ext cx="76200" cy="1009650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C8EE0F8-2437-44BF-8048-CEA5275718B6}"/>
              </a:ext>
            </a:extLst>
          </p:cNvPr>
          <p:cNvSpPr>
            <a:spLocks noGrp="1"/>
          </p:cNvSpPr>
          <p:nvPr/>
        </p:nvSpPr>
        <p:spPr>
          <a:xfrm>
            <a:off x="1028700" y="529590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Interpretacion fisica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635F56A-2F3C-4542-BD2E-62B948F282A6}"/>
              </a:ext>
            </a:extLst>
          </p:cNvPr>
          <p:cNvSpPr>
            <a:spLocks noGrp="1"/>
          </p:cNvSpPr>
          <p:nvPr/>
        </p:nvSpPr>
        <p:spPr>
          <a:xfrm>
            <a:off x="1028700" y="5543550"/>
            <a:ext cx="10134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01214"/>
                </a:solidFill>
              </a:defRPr>
            </a:pPr>
            <a:r>
              <a:rPr lang="es-ES_tradnl" sz="1050" b="0" dirty="0">
                <a:solidFill>
                  <a:srgbClr val="101214"/>
                </a:solidFill>
              </a:rPr>
              <a:t>• Sustituyendo Fₐ = </a:t>
            </a:r>
            <a:r>
              <a:rPr lang="es-ES_tradnl" sz="1050" b="0" dirty="0" err="1">
                <a:solidFill>
                  <a:srgbClr val="101214"/>
                </a:solidFill>
              </a:rPr>
              <a:t>Kf</a:t>
            </a:r>
            <a:r>
              <a:rPr lang="es-ES_tradnl" sz="1050" b="0" dirty="0">
                <a:solidFill>
                  <a:srgbClr val="101214"/>
                </a:solidFill>
              </a:rPr>
              <a:t> i en la </a:t>
            </a:r>
            <a:r>
              <a:rPr lang="es-ES_tradnl" sz="1050" b="0" dirty="0" err="1">
                <a:solidFill>
                  <a:srgbClr val="101214"/>
                </a:solidFill>
              </a:rPr>
              <a:t>ecuacion</a:t>
            </a:r>
            <a:r>
              <a:rPr lang="es-ES_tradnl" sz="1050" b="0" dirty="0">
                <a:solidFill>
                  <a:srgbClr val="101214"/>
                </a:solidFill>
              </a:rPr>
              <a:t> </a:t>
            </a:r>
            <a:r>
              <a:rPr lang="es-ES_tradnl" sz="1050" b="0" dirty="0" err="1">
                <a:solidFill>
                  <a:srgbClr val="101214"/>
                </a:solidFill>
              </a:rPr>
              <a:t>mecanica</a:t>
            </a:r>
            <a:r>
              <a:rPr lang="es-ES_tradnl" sz="1050" b="0" dirty="0">
                <a:solidFill>
                  <a:srgbClr val="101214"/>
                </a:solidFill>
              </a:rPr>
              <a:t> se obtiene el modelo acoplado completo del sistema.</a:t>
            </a:r>
          </a:p>
          <a:p>
            <a:pPr algn="l">
              <a:defRPr sz="1050" b="0">
                <a:solidFill>
                  <a:srgbClr val="101214"/>
                </a:solidFill>
              </a:defRPr>
            </a:pPr>
            <a:r>
              <a:rPr lang="es-ES_tradnl" sz="1050" b="0" dirty="0">
                <a:solidFill>
                  <a:srgbClr val="101214"/>
                </a:solidFill>
              </a:rPr>
              <a:t>• La corriente i(t) es el tercer estado del modelo y por eso la planta nominal resulta de tercer orden.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B9CC687-A00C-4D3B-BD21-D56EC839A15C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Control PID, material de clase y referencias introductorias. · N. Quijano, Estabilidad 1, notas de clase. · Desarrollo propio del grupo a partir del modelado fisico del sistema.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DF803DD-58EC-474E-B326-83D428F6E9E0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38B0D8D-DC65-405F-B286-BA2961B2B855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</p:spTree>
    <p:extLst>
      <p:ext uri="{BB962C8B-B14F-4D97-AF65-F5344CB8AC3E}">
        <p14:creationId xmlns:p14="http://schemas.microsoft.com/office/powerpoint/2010/main" val="1288796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F3F756B2-143B-4DF5-96FF-66A72223A1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087E06CB-17CC-4DE7-9AE9-75833E65E0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0A3D183-9B61-4775-8CA9-66FFE53CE43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PLANTA NOMINAL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715F224-D240-44B6-869B-0CCF6B725CFC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19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DB490FD-B4D7-4A0F-B07B-241BB951E97F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A694B6E-8097-420D-BB2D-919C55249CE4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276E790-E58A-4CA4-BE3A-3F322C1DFC2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191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Planta nominal y funcion de transferencia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938DDD8-E162-4827-A820-B97F0DC8EF71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Para analisis se toma z(t)=0 y se obtiene una planta nominal con estados q, q̇ e i.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C722C715-0F32-4C5A-83DD-78F4CC1A9350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428625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BB73639-EEB7-4C22-A4F1-8E0B96A034B2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4286250" cy="762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AE39218-D918-4FC9-B9EB-AA9A46EE44F4}"/>
              </a:ext>
            </a:extLst>
          </p:cNvPr>
          <p:cNvSpPr>
            <a:spLocks noGrp="1"/>
          </p:cNvSpPr>
          <p:nvPr/>
        </p:nvSpPr>
        <p:spPr>
          <a:xfrm>
            <a:off x="1009650" y="2724150"/>
            <a:ext cx="3867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Estados y espacio de estados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A2F1A1C-FDBC-4429-A653-0D8785648111}"/>
              </a:ext>
            </a:extLst>
          </p:cNvPr>
          <p:cNvSpPr>
            <a:spLocks noGrp="1"/>
          </p:cNvSpPr>
          <p:nvPr/>
        </p:nvSpPr>
        <p:spPr>
          <a:xfrm>
            <a:off x="1009650" y="3086100"/>
            <a:ext cx="3867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x = [ q   q̇   i ]ᵀ</a:t>
            </a:r>
          </a:p>
          <a:p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ẋ = A x + B u</a:t>
            </a:r>
          </a:p>
          <a:p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y = C x + D u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259CF93-794C-485E-9E1A-DA8449EE4D44}"/>
              </a:ext>
            </a:extLst>
          </p:cNvPr>
          <p:cNvSpPr>
            <a:spLocks noGrp="1"/>
          </p:cNvSpPr>
          <p:nvPr/>
        </p:nvSpPr>
        <p:spPr>
          <a:xfrm>
            <a:off x="1009650" y="3848100"/>
            <a:ext cx="3867150" cy="196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0363A"/>
                </a:solidFill>
              </a:defRPr>
            </a:pPr>
            <a:r>
              <a:rPr sz="975" b="0">
                <a:solidFill>
                  <a:srgbClr val="30363A"/>
                </a:solidFill>
              </a:rPr>
              <a:t>• La entrada nominal es el voltaje u(t).</a:t>
            </a:r>
          </a:p>
          <a:p>
            <a:pPr algn="l">
              <a:defRPr sz="975" b="0">
                <a:solidFill>
                  <a:srgbClr val="30363A"/>
                </a:solidFill>
              </a:defRPr>
            </a:pPr>
            <a:r>
              <a:rPr sz="975" b="0">
                <a:solidFill>
                  <a:srgbClr val="30363A"/>
                </a:solidFill>
              </a:rPr>
              <a:t>• La salida puede tomarse como la posicion de la plataforma alrededor del equilibrio.</a:t>
            </a:r>
          </a:p>
          <a:p>
            <a:pPr algn="l">
              <a:defRPr sz="975" b="0">
                <a:solidFill>
                  <a:srgbClr val="30363A"/>
                </a:solidFill>
              </a:defRPr>
            </a:pPr>
            <a:r>
              <a:rPr sz="975" b="0">
                <a:solidFill>
                  <a:srgbClr val="30363A"/>
                </a:solidFill>
              </a:rPr>
              <a:t>• Dos estados son mecanicos y uno es electrico.</a:t>
            </a:r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42A858C4-2014-409A-BC0D-598EBDD6946D}"/>
              </a:ext>
            </a:extLst>
          </p:cNvPr>
          <p:cNvSpPr>
            <a:spLocks noGrp="1"/>
          </p:cNvSpPr>
          <p:nvPr/>
        </p:nvSpPr>
        <p:spPr>
          <a:xfrm>
            <a:off x="5372100" y="2552700"/>
            <a:ext cx="60198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FB2077C-03D1-4869-B174-47DAD0DF8517}"/>
              </a:ext>
            </a:extLst>
          </p:cNvPr>
          <p:cNvSpPr>
            <a:spLocks noGrp="1"/>
          </p:cNvSpPr>
          <p:nvPr/>
        </p:nvSpPr>
        <p:spPr>
          <a:xfrm>
            <a:off x="5372100" y="2552700"/>
            <a:ext cx="6019800" cy="76200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D20168C-D9F2-4A43-B4C0-B85F7CCC06F3}"/>
              </a:ext>
            </a:extLst>
          </p:cNvPr>
          <p:cNvSpPr>
            <a:spLocks noGrp="1"/>
          </p:cNvSpPr>
          <p:nvPr/>
        </p:nvSpPr>
        <p:spPr>
          <a:xfrm>
            <a:off x="5581650" y="2724150"/>
            <a:ext cx="5600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Funcion de transferencia nominal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17ADE00-14C2-418B-999D-DA76D822E192}"/>
              </a:ext>
            </a:extLst>
          </p:cNvPr>
          <p:cNvSpPr>
            <a:spLocks noGrp="1"/>
          </p:cNvSpPr>
          <p:nvPr/>
        </p:nvSpPr>
        <p:spPr>
          <a:xfrm>
            <a:off x="5581650" y="3086100"/>
            <a:ext cx="56007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G(s) = C (sI - A)⁻¹ B + D</a:t>
            </a:r>
          </a:p>
          <a:p>
            <a:endParaRPr sz="1275" b="0">
              <a:solidFill>
                <a:srgbClr val="101214"/>
              </a:solidFill>
            </a:endParaRP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G(s) = Kf / ((L s + R)(m s² + c s + k) + Kf Kₑ s)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1FE4750-1F3A-41B0-9E58-EC89295054E4}"/>
              </a:ext>
            </a:extLst>
          </p:cNvPr>
          <p:cNvSpPr>
            <a:spLocks noGrp="1"/>
          </p:cNvSpPr>
          <p:nvPr/>
        </p:nvSpPr>
        <p:spPr>
          <a:xfrm>
            <a:off x="5581650" y="3848100"/>
            <a:ext cx="5600700" cy="196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0363A"/>
                </a:solidFill>
              </a:defRPr>
            </a:pPr>
            <a:r>
              <a:rPr sz="975" b="0">
                <a:solidFill>
                  <a:srgbClr val="30363A"/>
                </a:solidFill>
              </a:rPr>
              <a:t>• El denominador cubico confirma que la planta nominal es de tercer orden.</a:t>
            </a:r>
          </a:p>
          <a:p>
            <a:pPr algn="l">
              <a:defRPr sz="975" b="0">
                <a:solidFill>
                  <a:srgbClr val="30363A"/>
                </a:solidFill>
              </a:defRPr>
            </a:pPr>
            <a:r>
              <a:rPr sz="975" b="0">
                <a:solidFill>
                  <a:srgbClr val="30363A"/>
                </a:solidFill>
              </a:rPr>
              <a:t>• La perturbacion no se incorpora como segunda entrada de la planta nominal.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7A47A76-C12C-42E1-AB6B-279B189853C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N. Quijano, Estabilidad 1, notas de clase. · N. Quijano, Estabilidad en LTI, notas de clase. · Desarrollo propio del grupo a partir del modelado fisico del sistema.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D35498A-B40F-4ECE-9DCD-A564E52DAC95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2542B25-A610-4460-A947-7148B3FA139A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</p:spTree>
    <p:extLst>
      <p:ext uri="{BB962C8B-B14F-4D97-AF65-F5344CB8AC3E}">
        <p14:creationId xmlns:p14="http://schemas.microsoft.com/office/powerpoint/2010/main" val="711198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F3F756B2-143B-4DF5-96FF-66A72223A1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6A2E882E-E178-4D98-9199-40291F6A91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5B404D8-57F1-451F-A4D5-DC4E09812AA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ESTABILIDAD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B025C8E-EEB3-487C-9AC6-69D92877AD49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19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F6AC2BE-6848-4DC1-8409-19A9DCB67F5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D58F296-B902-4F75-8E1D-D1591EE76155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9AF86C3-2C4A-43CE-AF61-72CC166DB32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191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 dirty="0" err="1">
                <a:solidFill>
                  <a:srgbClr val="101214"/>
                </a:solidFill>
              </a:rPr>
              <a:t>Estabilidad</a:t>
            </a:r>
            <a:r>
              <a:rPr sz="3000" b="1" dirty="0">
                <a:solidFill>
                  <a:srgbClr val="101214"/>
                </a:solidFill>
              </a:rPr>
              <a:t> e </a:t>
            </a:r>
            <a:r>
              <a:rPr sz="3000" b="1" dirty="0" err="1">
                <a:solidFill>
                  <a:srgbClr val="101214"/>
                </a:solidFill>
              </a:rPr>
              <a:t>interpretaci</a:t>
            </a:r>
            <a:r>
              <a:rPr lang="es-CO" sz="3000" b="1" dirty="0" err="1">
                <a:solidFill>
                  <a:srgbClr val="101214"/>
                </a:solidFill>
              </a:rPr>
              <a:t>ó</a:t>
            </a:r>
            <a:r>
              <a:rPr sz="3000" b="1" dirty="0">
                <a:solidFill>
                  <a:srgbClr val="101214"/>
                </a:solidFill>
              </a:rPr>
              <a:t>n f</a:t>
            </a:r>
            <a:r>
              <a:rPr lang="es-CO" sz="3000" b="1" dirty="0">
                <a:solidFill>
                  <a:srgbClr val="101214"/>
                </a:solidFill>
              </a:rPr>
              <a:t>í</a:t>
            </a:r>
            <a:r>
              <a:rPr sz="3000" b="1" dirty="0" err="1">
                <a:solidFill>
                  <a:srgbClr val="101214"/>
                </a:solidFill>
              </a:rPr>
              <a:t>sica</a:t>
            </a:r>
            <a:endParaRPr sz="3000" b="1" dirty="0">
              <a:solidFill>
                <a:srgbClr val="101214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7955381-3B03-49BA-BA49-21A5229DC67D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La estabilidad se estudia con Routh-Hurwitz y luego se interpreta en terminos del montaje real.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5E5008A0-253B-4584-A079-8189EF0FF4E0}"/>
              </a:ext>
            </a:extLst>
          </p:cNvPr>
          <p:cNvSpPr>
            <a:spLocks noGrp="1"/>
          </p:cNvSpPr>
          <p:nvPr/>
        </p:nvSpPr>
        <p:spPr>
          <a:xfrm>
            <a:off x="800100" y="3524250"/>
            <a:ext cx="3378200" cy="2247900"/>
          </a:xfrm>
          <a:prstGeom prst="roundRect">
            <a:avLst>
              <a:gd name="adj" fmla="val 3390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6E446E8-64BF-4A92-BC08-394420C5B4A9}"/>
              </a:ext>
            </a:extLst>
          </p:cNvPr>
          <p:cNvSpPr>
            <a:spLocks noGrp="1"/>
          </p:cNvSpPr>
          <p:nvPr/>
        </p:nvSpPr>
        <p:spPr>
          <a:xfrm>
            <a:off x="800100" y="3524250"/>
            <a:ext cx="76200" cy="22479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7084868-8D02-498A-9575-06A10379BB04}"/>
              </a:ext>
            </a:extLst>
          </p:cNvPr>
          <p:cNvSpPr>
            <a:spLocks noGrp="1"/>
          </p:cNvSpPr>
          <p:nvPr/>
        </p:nvSpPr>
        <p:spPr>
          <a:xfrm>
            <a:off x="1009650" y="37528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B4C0F80-66E6-4DE2-AD49-E9378769DCE4}"/>
              </a:ext>
            </a:extLst>
          </p:cNvPr>
          <p:cNvSpPr>
            <a:spLocks noGrp="1"/>
          </p:cNvSpPr>
          <p:nvPr/>
        </p:nvSpPr>
        <p:spPr>
          <a:xfrm>
            <a:off x="1162050" y="40290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BEF98AF-809F-4B8E-898C-42EE477B067A}"/>
              </a:ext>
            </a:extLst>
          </p:cNvPr>
          <p:cNvSpPr>
            <a:spLocks noGrp="1"/>
          </p:cNvSpPr>
          <p:nvPr/>
        </p:nvSpPr>
        <p:spPr>
          <a:xfrm>
            <a:off x="1247775" y="39528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5A0DB3-D99C-4A4B-9E25-8DA5442B2FC7}"/>
              </a:ext>
            </a:extLst>
          </p:cNvPr>
          <p:cNvSpPr>
            <a:spLocks noGrp="1"/>
          </p:cNvSpPr>
          <p:nvPr/>
        </p:nvSpPr>
        <p:spPr>
          <a:xfrm>
            <a:off x="1333500" y="38862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62C7AA7-ED35-4065-B7AE-BD181B39E905}"/>
              </a:ext>
            </a:extLst>
          </p:cNvPr>
          <p:cNvSpPr>
            <a:spLocks noGrp="1"/>
          </p:cNvSpPr>
          <p:nvPr/>
        </p:nvSpPr>
        <p:spPr>
          <a:xfrm>
            <a:off x="1638300" y="3733800"/>
            <a:ext cx="234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Criterio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3E51182-209D-461C-9CB1-2CC7CEC65747}"/>
              </a:ext>
            </a:extLst>
          </p:cNvPr>
          <p:cNvSpPr>
            <a:spLocks noGrp="1"/>
          </p:cNvSpPr>
          <p:nvPr/>
        </p:nvSpPr>
        <p:spPr>
          <a:xfrm>
            <a:off x="1028700" y="4343400"/>
            <a:ext cx="29210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Para el polinomio a3 s^3 + a2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s^2 + a1 s + a0, se requiere a3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&gt; 0, a2 &gt; 0, a1 &gt; 0, a0 &gt; 0 y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ademas a2 a1 &gt; a3 a0.</a:t>
            </a:r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E6464EB0-9C1C-482F-B850-5B6839D2740D}"/>
              </a:ext>
            </a:extLst>
          </p:cNvPr>
          <p:cNvSpPr>
            <a:spLocks noGrp="1"/>
          </p:cNvSpPr>
          <p:nvPr/>
        </p:nvSpPr>
        <p:spPr>
          <a:xfrm>
            <a:off x="4406900" y="3524250"/>
            <a:ext cx="3378200" cy="2247900"/>
          </a:xfrm>
          <a:prstGeom prst="roundRect">
            <a:avLst>
              <a:gd name="adj" fmla="val 3390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93F2D4F-055F-4CED-8B37-514EFE54185F}"/>
              </a:ext>
            </a:extLst>
          </p:cNvPr>
          <p:cNvSpPr>
            <a:spLocks noGrp="1"/>
          </p:cNvSpPr>
          <p:nvPr/>
        </p:nvSpPr>
        <p:spPr>
          <a:xfrm>
            <a:off x="4406900" y="3524250"/>
            <a:ext cx="76200" cy="22479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B08E0DD2-E315-4D85-9A1E-34B6C23BE164}"/>
              </a:ext>
            </a:extLst>
          </p:cNvPr>
          <p:cNvSpPr>
            <a:spLocks noGrp="1"/>
          </p:cNvSpPr>
          <p:nvPr/>
        </p:nvSpPr>
        <p:spPr>
          <a:xfrm>
            <a:off x="4616450" y="37528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3B41B0A1-2C2E-430E-A5AB-B50F1329C81C}"/>
              </a:ext>
            </a:extLst>
          </p:cNvPr>
          <p:cNvSpPr>
            <a:spLocks noGrp="1"/>
          </p:cNvSpPr>
          <p:nvPr/>
        </p:nvSpPr>
        <p:spPr>
          <a:xfrm>
            <a:off x="4740275" y="39243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320AFE3-1252-4618-BE70-72C1FE49F461}"/>
              </a:ext>
            </a:extLst>
          </p:cNvPr>
          <p:cNvSpPr>
            <a:spLocks noGrp="1"/>
          </p:cNvSpPr>
          <p:nvPr/>
        </p:nvSpPr>
        <p:spPr>
          <a:xfrm>
            <a:off x="4911725" y="40100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2B0ED43-61FD-4E9C-90A9-01C2B51004E2}"/>
              </a:ext>
            </a:extLst>
          </p:cNvPr>
          <p:cNvSpPr>
            <a:spLocks noGrp="1"/>
          </p:cNvSpPr>
          <p:nvPr/>
        </p:nvSpPr>
        <p:spPr>
          <a:xfrm>
            <a:off x="4826000" y="39909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898AE54-4D0C-44FD-97FA-7DD7575FFCEE}"/>
              </a:ext>
            </a:extLst>
          </p:cNvPr>
          <p:cNvSpPr>
            <a:spLocks noGrp="1"/>
          </p:cNvSpPr>
          <p:nvPr/>
        </p:nvSpPr>
        <p:spPr>
          <a:xfrm>
            <a:off x="5245100" y="3733800"/>
            <a:ext cx="234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Lectura fisica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AFE97D0-C975-4885-98EA-1177635F37F5}"/>
              </a:ext>
            </a:extLst>
          </p:cNvPr>
          <p:cNvSpPr>
            <a:spLocks noGrp="1"/>
          </p:cNvSpPr>
          <p:nvPr/>
        </p:nvSpPr>
        <p:spPr>
          <a:xfrm>
            <a:off x="4635500" y="4343400"/>
            <a:ext cx="29210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Los coeficientes positivos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reflejan masa, amortiguamiento y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rigidez físicamente realizables,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mientras que la condición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cruzada evita modos dominantes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inestables.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50068988-0799-45CB-A092-A8CF2889D6AD}"/>
              </a:ext>
            </a:extLst>
          </p:cNvPr>
          <p:cNvSpPr>
            <a:spLocks noGrp="1"/>
          </p:cNvSpPr>
          <p:nvPr/>
        </p:nvSpPr>
        <p:spPr>
          <a:xfrm>
            <a:off x="8013700" y="3524250"/>
            <a:ext cx="3378200" cy="2247900"/>
          </a:xfrm>
          <a:prstGeom prst="roundRect">
            <a:avLst>
              <a:gd name="adj" fmla="val 3390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4EA5725-033C-4037-8507-3B906355D1AC}"/>
              </a:ext>
            </a:extLst>
          </p:cNvPr>
          <p:cNvSpPr>
            <a:spLocks noGrp="1"/>
          </p:cNvSpPr>
          <p:nvPr/>
        </p:nvSpPr>
        <p:spPr>
          <a:xfrm>
            <a:off x="8013700" y="3524250"/>
            <a:ext cx="76200" cy="22479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70B26610-867C-41DB-938F-C0FF69912465}"/>
              </a:ext>
            </a:extLst>
          </p:cNvPr>
          <p:cNvSpPr>
            <a:spLocks noGrp="1"/>
          </p:cNvSpPr>
          <p:nvPr/>
        </p:nvSpPr>
        <p:spPr>
          <a:xfrm>
            <a:off x="8223250" y="37528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1394FC88-7AD9-4469-97D4-F30E2A5D42BD}"/>
              </a:ext>
            </a:extLst>
          </p:cNvPr>
          <p:cNvSpPr>
            <a:spLocks noGrp="1"/>
          </p:cNvSpPr>
          <p:nvPr/>
        </p:nvSpPr>
        <p:spPr>
          <a:xfrm>
            <a:off x="8347075" y="38957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AA08DAF0-CBE7-4550-87C4-31CD5B10F92D}"/>
              </a:ext>
            </a:extLst>
          </p:cNvPr>
          <p:cNvSpPr>
            <a:spLocks noGrp="1"/>
          </p:cNvSpPr>
          <p:nvPr/>
        </p:nvSpPr>
        <p:spPr>
          <a:xfrm>
            <a:off x="8394700" y="39814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0DA15BCC-579A-4952-950C-C1F0E346581F}"/>
              </a:ext>
            </a:extLst>
          </p:cNvPr>
          <p:cNvSpPr>
            <a:spLocks noGrp="1"/>
          </p:cNvSpPr>
          <p:nvPr/>
        </p:nvSpPr>
        <p:spPr>
          <a:xfrm>
            <a:off x="8442325" y="40671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6258EC6-73B4-45F3-979A-6158C125854D}"/>
              </a:ext>
            </a:extLst>
          </p:cNvPr>
          <p:cNvSpPr>
            <a:spLocks noGrp="1"/>
          </p:cNvSpPr>
          <p:nvPr/>
        </p:nvSpPr>
        <p:spPr>
          <a:xfrm>
            <a:off x="8851900" y="3733800"/>
            <a:ext cx="234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Implicacion practica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F241D20-BC36-42C5-B000-7005C3FE8A1B}"/>
              </a:ext>
            </a:extLst>
          </p:cNvPr>
          <p:cNvSpPr>
            <a:spLocks noGrp="1"/>
          </p:cNvSpPr>
          <p:nvPr/>
        </p:nvSpPr>
        <p:spPr>
          <a:xfrm>
            <a:off x="8242300" y="4343400"/>
            <a:ext cx="29210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Que la planta sea estable no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garantiza buen aislamiento: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también debe existir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amortiguamiento suficiente para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que la vibración residual no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degrade la medición.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C74AB82-D1AA-4C8E-9E00-D6685477DFCA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N. Quijano, Estabilidad en LTI, notas de clase. · Desarrollo propio del grupo a partir del modelado fisico del sistema.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30FB50E8-3F14-4EE8-A928-8F463B6B0241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611BAAB7-9930-4307-AF2D-D466E264B4DF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</p:spTree>
    <p:extLst>
      <p:ext uri="{BB962C8B-B14F-4D97-AF65-F5344CB8AC3E}">
        <p14:creationId xmlns:p14="http://schemas.microsoft.com/office/powerpoint/2010/main" val="1172846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F3F756B2-143B-4DF5-96FF-66A72223A1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19EC047-796E-4C5B-8A4C-E751913DB7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607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01513B3-A761-413F-B3B9-562DCEF009A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REDUCCION DEL MODELO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EEF2A08-0A49-4815-8EA0-82E5992D4914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10 / 19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A916338-14E4-4266-B79A-DAF67E15107C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DED1961-00CD-40A4-A9C5-30238E5EBF99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77D7C5-6280-450C-9412-D22C14CC0A25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572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 dirty="0" err="1">
                <a:solidFill>
                  <a:srgbClr val="101214"/>
                </a:solidFill>
              </a:rPr>
              <a:t>Reduccion</a:t>
            </a:r>
            <a:r>
              <a:rPr sz="3000" b="1" dirty="0">
                <a:solidFill>
                  <a:srgbClr val="101214"/>
                </a:solidFill>
              </a:rPr>
              <a:t> para </a:t>
            </a:r>
            <a:r>
              <a:rPr sz="3000" b="1" dirty="0" err="1">
                <a:solidFill>
                  <a:srgbClr val="101214"/>
                </a:solidFill>
              </a:rPr>
              <a:t>sinton</a:t>
            </a:r>
            <a:r>
              <a:rPr lang="es-CO" sz="3000" b="1" dirty="0">
                <a:solidFill>
                  <a:srgbClr val="101214"/>
                </a:solidFill>
              </a:rPr>
              <a:t>í</a:t>
            </a:r>
            <a:r>
              <a:rPr sz="3000" b="1" dirty="0">
                <a:solidFill>
                  <a:srgbClr val="101214"/>
                </a:solidFill>
              </a:rPr>
              <a:t>a y </a:t>
            </a:r>
            <a:r>
              <a:rPr sz="3000" b="1" dirty="0" err="1">
                <a:solidFill>
                  <a:srgbClr val="101214"/>
                </a:solidFill>
              </a:rPr>
              <a:t>respuesta</a:t>
            </a:r>
            <a:r>
              <a:rPr sz="3000" b="1" dirty="0">
                <a:solidFill>
                  <a:srgbClr val="101214"/>
                </a:solidFill>
              </a:rPr>
              <a:t> </a:t>
            </a:r>
            <a:r>
              <a:rPr sz="3000" b="1" dirty="0" err="1">
                <a:solidFill>
                  <a:srgbClr val="101214"/>
                </a:solidFill>
              </a:rPr>
              <a:t>forzada</a:t>
            </a:r>
            <a:endParaRPr sz="3000" b="1" dirty="0">
              <a:solidFill>
                <a:srgbClr val="101214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CFFEF52-E358-4EB6-84E4-95954A702DDE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La reduccion se usa solo para disenar el controlador, manteniendo la validacion final sobre la planta completa.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482080EC-A909-42C2-9179-C87CEB49BCE2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51435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AE3B40A-2986-4CDC-9BCF-29824E33F81F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5143500" cy="762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7C6D60D-7F0E-48B5-B99E-17012A28EFD2}"/>
              </a:ext>
            </a:extLst>
          </p:cNvPr>
          <p:cNvSpPr>
            <a:spLocks noGrp="1"/>
          </p:cNvSpPr>
          <p:nvPr/>
        </p:nvSpPr>
        <p:spPr>
          <a:xfrm>
            <a:off x="1009650" y="2895600"/>
            <a:ext cx="472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Modelo reducido de sintonia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DBC219B-6B8C-4FEF-BD00-EB47D5EA783E}"/>
              </a:ext>
            </a:extLst>
          </p:cNvPr>
          <p:cNvSpPr>
            <a:spLocks noGrp="1"/>
          </p:cNvSpPr>
          <p:nvPr/>
        </p:nvSpPr>
        <p:spPr>
          <a:xfrm>
            <a:off x="1009650" y="3257550"/>
            <a:ext cx="4724400" cy="96926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ceq = c + Kf Kₑ / R</a:t>
            </a:r>
          </a:p>
          <a:p>
            <a:pPr algn="l"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L i̇ ≈ 0  ⇒  i ≈ (u - Kₑ q̇) / R</a:t>
            </a:r>
          </a:p>
          <a:p>
            <a:pPr algn="l"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m q̈ + ceq q̇ + k q = (Kf / R) u + f_p(t)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B1AF6505-7CE9-4106-9D4A-D3A9D61A064A}"/>
              </a:ext>
            </a:extLst>
          </p:cNvPr>
          <p:cNvSpPr>
            <a:spLocks noGrp="1"/>
          </p:cNvSpPr>
          <p:nvPr/>
        </p:nvSpPr>
        <p:spPr>
          <a:xfrm>
            <a:off x="6248400" y="2724150"/>
            <a:ext cx="51435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9194798-6D15-407C-AE8B-0AF421983A5C}"/>
              </a:ext>
            </a:extLst>
          </p:cNvPr>
          <p:cNvSpPr>
            <a:spLocks noGrp="1"/>
          </p:cNvSpPr>
          <p:nvPr/>
        </p:nvSpPr>
        <p:spPr>
          <a:xfrm>
            <a:off x="6248400" y="2724150"/>
            <a:ext cx="5143500" cy="76200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4CDF851-C30C-4591-ACAC-A95369698F58}"/>
              </a:ext>
            </a:extLst>
          </p:cNvPr>
          <p:cNvSpPr>
            <a:spLocks noGrp="1"/>
          </p:cNvSpPr>
          <p:nvPr/>
        </p:nvSpPr>
        <p:spPr>
          <a:xfrm>
            <a:off x="6457950" y="2895600"/>
            <a:ext cx="472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Respuesta forzada equivalente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73F6407-BAD8-4EAD-9707-1D8B62F059CB}"/>
              </a:ext>
            </a:extLst>
          </p:cNvPr>
          <p:cNvSpPr>
            <a:spLocks noGrp="1"/>
          </p:cNvSpPr>
          <p:nvPr/>
        </p:nvSpPr>
        <p:spPr>
          <a:xfrm>
            <a:off x="6457950" y="3257550"/>
            <a:ext cx="4724400" cy="8458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01214"/>
                </a:solidFill>
              </a:defRPr>
            </a:pPr>
            <a:r>
              <a:rPr sz="1500" b="0">
                <a:solidFill>
                  <a:srgbClr val="101214"/>
                </a:solidFill>
              </a:rPr>
              <a:t>Gr(s) = 1 / (m s² + c s + k)</a:t>
            </a:r>
          </a:p>
          <a:p>
            <a:pPr algn="l">
              <a:defRPr sz="1500" b="0">
                <a:solidFill>
                  <a:srgbClr val="101214"/>
                </a:solidFill>
              </a:defRPr>
            </a:pPr>
            <a:r>
              <a:rPr sz="1500" b="0">
                <a:solidFill>
                  <a:srgbClr val="101214"/>
                </a:solidFill>
              </a:rPr>
              <a:t>Gr(s) = 1 / (s² + 5 s + 100)</a:t>
            </a:r>
          </a:p>
          <a:p>
            <a:pPr algn="l">
              <a:defRPr sz="1500" b="0">
                <a:solidFill>
                  <a:srgbClr val="101214"/>
                </a:solidFill>
              </a:defRPr>
            </a:pPr>
            <a:r>
              <a:rPr sz="1500" b="0">
                <a:solidFill>
                  <a:srgbClr val="101214"/>
                </a:solidFill>
              </a:rPr>
              <a:t>Q(s) = Gr(s) [U(s) + Fp(s)]</a:t>
            </a:r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790F1070-0B7C-47E5-ADA0-1087F89C6439}"/>
              </a:ext>
            </a:extLst>
          </p:cNvPr>
          <p:cNvSpPr>
            <a:spLocks noGrp="1"/>
          </p:cNvSpPr>
          <p:nvPr/>
        </p:nvSpPr>
        <p:spPr>
          <a:xfrm>
            <a:off x="800100" y="4514850"/>
            <a:ext cx="3378200" cy="1828800"/>
          </a:xfrm>
          <a:prstGeom prst="roundRect">
            <a:avLst>
              <a:gd name="adj" fmla="val 4167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6690EA9-AD8A-442D-967E-77E417A070F4}"/>
              </a:ext>
            </a:extLst>
          </p:cNvPr>
          <p:cNvSpPr>
            <a:spLocks noGrp="1"/>
          </p:cNvSpPr>
          <p:nvPr/>
        </p:nvSpPr>
        <p:spPr>
          <a:xfrm>
            <a:off x="800100" y="4514850"/>
            <a:ext cx="76200" cy="18288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278466C7-CF4B-48BC-A582-8288A2F54872}"/>
              </a:ext>
            </a:extLst>
          </p:cNvPr>
          <p:cNvSpPr>
            <a:spLocks noGrp="1"/>
          </p:cNvSpPr>
          <p:nvPr/>
        </p:nvSpPr>
        <p:spPr>
          <a:xfrm>
            <a:off x="1009650" y="47434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92B1140-9DA6-42A1-AEBF-C04998F018CF}"/>
              </a:ext>
            </a:extLst>
          </p:cNvPr>
          <p:cNvSpPr>
            <a:spLocks noGrp="1"/>
          </p:cNvSpPr>
          <p:nvPr/>
        </p:nvSpPr>
        <p:spPr>
          <a:xfrm>
            <a:off x="1162050" y="50196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9AD2FC8-592F-47D0-81D3-9E723B738906}"/>
              </a:ext>
            </a:extLst>
          </p:cNvPr>
          <p:cNvSpPr>
            <a:spLocks noGrp="1"/>
          </p:cNvSpPr>
          <p:nvPr/>
        </p:nvSpPr>
        <p:spPr>
          <a:xfrm>
            <a:off x="1247775" y="49434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C917845-49FA-4534-B54F-2D2646A957D1}"/>
              </a:ext>
            </a:extLst>
          </p:cNvPr>
          <p:cNvSpPr>
            <a:spLocks noGrp="1"/>
          </p:cNvSpPr>
          <p:nvPr/>
        </p:nvSpPr>
        <p:spPr>
          <a:xfrm>
            <a:off x="1333500" y="48768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C4D360D-D159-4F95-AC79-2158FAF5B0FC}"/>
              </a:ext>
            </a:extLst>
          </p:cNvPr>
          <p:cNvSpPr>
            <a:spLocks noGrp="1"/>
          </p:cNvSpPr>
          <p:nvPr/>
        </p:nvSpPr>
        <p:spPr>
          <a:xfrm>
            <a:off x="1638300" y="4724400"/>
            <a:ext cx="234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Por que se reduce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5EBBF7F-99E9-4044-985A-573726FC6861}"/>
              </a:ext>
            </a:extLst>
          </p:cNvPr>
          <p:cNvSpPr>
            <a:spLocks noGrp="1"/>
          </p:cNvSpPr>
          <p:nvPr/>
        </p:nvSpPr>
        <p:spPr>
          <a:xfrm>
            <a:off x="1028700" y="5334000"/>
            <a:ext cx="2921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 supone que la dinamica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electrica es mas rapida que la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mecanica y puede aproximarse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cuasiestaticamente.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EC903573-56A1-4755-9D76-23FF370CA011}"/>
              </a:ext>
            </a:extLst>
          </p:cNvPr>
          <p:cNvSpPr>
            <a:spLocks noGrp="1"/>
          </p:cNvSpPr>
          <p:nvPr/>
        </p:nvSpPr>
        <p:spPr>
          <a:xfrm>
            <a:off x="4406900" y="4514850"/>
            <a:ext cx="3378200" cy="1828800"/>
          </a:xfrm>
          <a:prstGeom prst="roundRect">
            <a:avLst>
              <a:gd name="adj" fmla="val 4167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CD01752-EA97-44DC-A170-467C9729038D}"/>
              </a:ext>
            </a:extLst>
          </p:cNvPr>
          <p:cNvSpPr>
            <a:spLocks noGrp="1"/>
          </p:cNvSpPr>
          <p:nvPr/>
        </p:nvSpPr>
        <p:spPr>
          <a:xfrm>
            <a:off x="4406900" y="4514850"/>
            <a:ext cx="76200" cy="18288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6C41FF86-FF60-4DC4-8236-1F4A4D5E0F99}"/>
              </a:ext>
            </a:extLst>
          </p:cNvPr>
          <p:cNvSpPr>
            <a:spLocks noGrp="1"/>
          </p:cNvSpPr>
          <p:nvPr/>
        </p:nvSpPr>
        <p:spPr>
          <a:xfrm>
            <a:off x="4616450" y="47434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E54272CC-A1AC-4DBF-9B6A-DFB21A81022C}"/>
              </a:ext>
            </a:extLst>
          </p:cNvPr>
          <p:cNvSpPr>
            <a:spLocks noGrp="1"/>
          </p:cNvSpPr>
          <p:nvPr/>
        </p:nvSpPr>
        <p:spPr>
          <a:xfrm>
            <a:off x="4740275" y="49149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6B69A2C3-7AA8-44F2-8B9A-06754DF724FC}"/>
              </a:ext>
            </a:extLst>
          </p:cNvPr>
          <p:cNvSpPr>
            <a:spLocks noGrp="1"/>
          </p:cNvSpPr>
          <p:nvPr/>
        </p:nvSpPr>
        <p:spPr>
          <a:xfrm>
            <a:off x="4911725" y="50006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22484A5-B65B-4752-8FBE-D67E9FC25BC6}"/>
              </a:ext>
            </a:extLst>
          </p:cNvPr>
          <p:cNvSpPr>
            <a:spLocks noGrp="1"/>
          </p:cNvSpPr>
          <p:nvPr/>
        </p:nvSpPr>
        <p:spPr>
          <a:xfrm>
            <a:off x="4826000" y="49815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892B184-A6C0-4672-AC65-E1ED0BA687F5}"/>
              </a:ext>
            </a:extLst>
          </p:cNvPr>
          <p:cNvSpPr>
            <a:spLocks noGrp="1"/>
          </p:cNvSpPr>
          <p:nvPr/>
        </p:nvSpPr>
        <p:spPr>
          <a:xfrm>
            <a:off x="5245100" y="4724400"/>
            <a:ext cx="234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Que se conserva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180E203-20A2-4D7C-AE17-45FF574F736D}"/>
              </a:ext>
            </a:extLst>
          </p:cNvPr>
          <p:cNvSpPr>
            <a:spLocks noGrp="1"/>
          </p:cNvSpPr>
          <p:nvPr/>
        </p:nvSpPr>
        <p:spPr>
          <a:xfrm>
            <a:off x="4635500" y="5334000"/>
            <a:ext cx="2921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 dirty="0">
                <a:solidFill>
                  <a:srgbClr val="101214"/>
                </a:solidFill>
              </a:rPr>
              <a:t>Se </a:t>
            </a:r>
            <a:r>
              <a:rPr sz="1275" b="0" dirty="0" err="1">
                <a:solidFill>
                  <a:srgbClr val="101214"/>
                </a:solidFill>
              </a:rPr>
              <a:t>conserva</a:t>
            </a:r>
            <a:r>
              <a:rPr sz="1275" b="0" dirty="0">
                <a:solidFill>
                  <a:srgbClr val="101214"/>
                </a:solidFill>
              </a:rPr>
              <a:t> la </a:t>
            </a:r>
            <a:r>
              <a:rPr sz="1275" b="0" dirty="0" err="1">
                <a:solidFill>
                  <a:srgbClr val="101214"/>
                </a:solidFill>
              </a:rPr>
              <a:t>dinamica</a:t>
            </a:r>
            <a:endParaRPr sz="1275" b="0" dirty="0">
              <a:solidFill>
                <a:srgbClr val="101214"/>
              </a:solidFill>
            </a:endParaRP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 dirty="0" err="1">
                <a:solidFill>
                  <a:srgbClr val="101214"/>
                </a:solidFill>
              </a:rPr>
              <a:t>dominante</a:t>
            </a:r>
            <a:r>
              <a:rPr lang="es-ES" sz="1275" b="0" dirty="0">
                <a:solidFill>
                  <a:srgbClr val="101214"/>
                </a:solidFill>
              </a:rPr>
              <a:t> </a:t>
            </a:r>
            <a:r>
              <a:rPr sz="1275" b="0" dirty="0">
                <a:solidFill>
                  <a:srgbClr val="101214"/>
                </a:solidFill>
              </a:rPr>
              <a:t>masa-</a:t>
            </a:r>
            <a:r>
              <a:rPr sz="1275" b="0" dirty="0" err="1">
                <a:solidFill>
                  <a:srgbClr val="101214"/>
                </a:solidFill>
              </a:rPr>
              <a:t>resorte</a:t>
            </a:r>
            <a:r>
              <a:rPr sz="1275" b="0" dirty="0">
                <a:solidFill>
                  <a:srgbClr val="101214"/>
                </a:solidFill>
              </a:rPr>
              <a:t>-</a:t>
            </a:r>
            <a:r>
              <a:rPr sz="1275" b="0" dirty="0" err="1">
                <a:solidFill>
                  <a:srgbClr val="101214"/>
                </a:solidFill>
              </a:rPr>
              <a:t>amortiguador</a:t>
            </a:r>
            <a:r>
              <a:rPr sz="1275" b="0" dirty="0">
                <a:solidFill>
                  <a:srgbClr val="101214"/>
                </a:solidFill>
              </a:rPr>
              <a:t>, que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 dirty="0" err="1">
                <a:solidFill>
                  <a:srgbClr val="101214"/>
                </a:solidFill>
              </a:rPr>
              <a:t>gobierna</a:t>
            </a:r>
            <a:r>
              <a:rPr sz="1275" b="0" dirty="0">
                <a:solidFill>
                  <a:srgbClr val="101214"/>
                </a:solidFill>
              </a:rPr>
              <a:t> la </a:t>
            </a:r>
            <a:r>
              <a:rPr sz="1275" b="0" dirty="0" err="1">
                <a:solidFill>
                  <a:srgbClr val="101214"/>
                </a:solidFill>
              </a:rPr>
              <a:t>sinton</a:t>
            </a:r>
            <a:r>
              <a:rPr lang="es-CO" sz="1275" b="0" dirty="0">
                <a:solidFill>
                  <a:srgbClr val="101214"/>
                </a:solidFill>
              </a:rPr>
              <a:t>í</a:t>
            </a:r>
            <a:r>
              <a:rPr sz="1275" b="0" dirty="0">
                <a:solidFill>
                  <a:srgbClr val="101214"/>
                </a:solidFill>
              </a:rPr>
              <a:t>a del PID.</a:t>
            </a:r>
          </a:p>
        </p:txBody>
      </p:sp>
      <p:sp>
        <p:nvSpPr>
          <p:cNvPr id="34" name="Rectángulo redondeado 33">
            <a:extLst>
              <a:ext uri="{FF2B5EF4-FFF2-40B4-BE49-F238E27FC236}">
                <a16:creationId xmlns:a16="http://schemas.microsoft.com/office/drawing/2014/main" id="{FF3020A7-73C0-486B-BB1C-3B89AC3B4DA0}"/>
              </a:ext>
            </a:extLst>
          </p:cNvPr>
          <p:cNvSpPr>
            <a:spLocks noGrp="1"/>
          </p:cNvSpPr>
          <p:nvPr/>
        </p:nvSpPr>
        <p:spPr>
          <a:xfrm>
            <a:off x="8013700" y="4514850"/>
            <a:ext cx="3378200" cy="1828800"/>
          </a:xfrm>
          <a:prstGeom prst="roundRect">
            <a:avLst>
              <a:gd name="adj" fmla="val 4167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EACD938B-19EB-4B87-BA9C-B1A848C4D349}"/>
              </a:ext>
            </a:extLst>
          </p:cNvPr>
          <p:cNvSpPr>
            <a:spLocks noGrp="1"/>
          </p:cNvSpPr>
          <p:nvPr/>
        </p:nvSpPr>
        <p:spPr>
          <a:xfrm>
            <a:off x="8013700" y="4514850"/>
            <a:ext cx="76200" cy="18288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091D3D51-718A-4C9D-B146-5607E12DAD57}"/>
              </a:ext>
            </a:extLst>
          </p:cNvPr>
          <p:cNvSpPr>
            <a:spLocks noGrp="1"/>
          </p:cNvSpPr>
          <p:nvPr/>
        </p:nvSpPr>
        <p:spPr>
          <a:xfrm>
            <a:off x="8223250" y="47434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Rectángulo redondeado 36">
            <a:extLst>
              <a:ext uri="{FF2B5EF4-FFF2-40B4-BE49-F238E27FC236}">
                <a16:creationId xmlns:a16="http://schemas.microsoft.com/office/drawing/2014/main" id="{F0527942-175D-4647-A17F-726EB415F2F2}"/>
              </a:ext>
            </a:extLst>
          </p:cNvPr>
          <p:cNvSpPr>
            <a:spLocks noGrp="1"/>
          </p:cNvSpPr>
          <p:nvPr/>
        </p:nvSpPr>
        <p:spPr>
          <a:xfrm>
            <a:off x="8347075" y="48863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Rectángulo redondeado 37">
            <a:extLst>
              <a:ext uri="{FF2B5EF4-FFF2-40B4-BE49-F238E27FC236}">
                <a16:creationId xmlns:a16="http://schemas.microsoft.com/office/drawing/2014/main" id="{9DE656DC-827D-4BAA-A85B-5E938D127FF4}"/>
              </a:ext>
            </a:extLst>
          </p:cNvPr>
          <p:cNvSpPr>
            <a:spLocks noGrp="1"/>
          </p:cNvSpPr>
          <p:nvPr/>
        </p:nvSpPr>
        <p:spPr>
          <a:xfrm>
            <a:off x="8394700" y="49720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redondeado 38">
            <a:extLst>
              <a:ext uri="{FF2B5EF4-FFF2-40B4-BE49-F238E27FC236}">
                <a16:creationId xmlns:a16="http://schemas.microsoft.com/office/drawing/2014/main" id="{91B21770-C7A1-4842-85BB-D0E0B91DEBEB}"/>
              </a:ext>
            </a:extLst>
          </p:cNvPr>
          <p:cNvSpPr>
            <a:spLocks noGrp="1"/>
          </p:cNvSpPr>
          <p:nvPr/>
        </p:nvSpPr>
        <p:spPr>
          <a:xfrm>
            <a:off x="8442325" y="50577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CC9ABB76-2E49-4212-9635-509048DC8CBF}"/>
              </a:ext>
            </a:extLst>
          </p:cNvPr>
          <p:cNvSpPr>
            <a:spLocks noGrp="1"/>
          </p:cNvSpPr>
          <p:nvPr/>
        </p:nvSpPr>
        <p:spPr>
          <a:xfrm>
            <a:off x="8851900" y="4724400"/>
            <a:ext cx="234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Que se pierde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0647584-CAB1-42A4-9DF6-9874FD78D5A9}"/>
              </a:ext>
            </a:extLst>
          </p:cNvPr>
          <p:cNvSpPr>
            <a:spLocks noGrp="1"/>
          </p:cNvSpPr>
          <p:nvPr/>
        </p:nvSpPr>
        <p:spPr>
          <a:xfrm>
            <a:off x="8242300" y="5334000"/>
            <a:ext cx="2921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 pierde el detalle exacto del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tercer estado electrico, por lo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que la comprobacion final se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hace con la planta completa.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47B26128-76E5-4EED-A017-86708456A4F3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N. Quijano, Estabilidad 1, notas de clase. · N. Quijano, IMC y PID, notas de clase. · Desarrollo propio del grupo a partir del modelado fisico del sistema.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97AB0D2C-FD88-4C9D-9DB7-CF013281A76E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F4510AD-4BDB-42B3-B732-549C09C7B60D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</p:spTree>
    <p:extLst>
      <p:ext uri="{BB962C8B-B14F-4D97-AF65-F5344CB8AC3E}">
        <p14:creationId xmlns:p14="http://schemas.microsoft.com/office/powerpoint/2010/main" val="1897861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F3F756B2-143B-4DF5-96FF-66A72223A1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7810A53-929B-4A90-B441-1779743B9FA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COMPARACION EN LAZO ABIERTO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2662A9B-EF08-450E-A961-6F55A79C5CC8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/ 19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243E665-5BE1-439B-81B9-853876AF61D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CF5C82E-E3C5-4596-AC32-1FB2F3E1E130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1D61AA6-1E5A-42CA-AB6E-07A5FFCCDB44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572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lang="es-ES_tradnl" sz="3000" b="1" dirty="0">
                <a:solidFill>
                  <a:srgbClr val="101214"/>
                </a:solidFill>
              </a:rPr>
              <a:t>Comparación entre modelo teórico </a:t>
            </a:r>
            <a:r>
              <a:rPr sz="3000" b="1" dirty="0">
                <a:solidFill>
                  <a:srgbClr val="101214"/>
                </a:solidFill>
              </a:rPr>
              <a:t>y </a:t>
            </a:r>
            <a:r>
              <a:rPr lang="es-ES_tradnl" sz="3000" b="1" dirty="0">
                <a:solidFill>
                  <a:srgbClr val="101214"/>
                </a:solidFill>
              </a:rPr>
              <a:t>modelo realista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F475B38-A2DF-4A0C-9734-36CE7E3907E6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Espacios reservados para contrastar la dinamica en lazo abierto antes del diseno del controlador.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9B3B4F25-B8D5-4696-93F2-164645DD5EFE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508635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03692CD-0708-4FDC-AD97-D4C4537DD5F0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5086350" cy="762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2802D41-1E0E-4E26-AB34-905C581B2CD1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466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Lazo abierto teorico con funcion de transferencia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3B2A9F51-E0DF-404C-BD7F-12923E5F6EA7}"/>
              </a:ext>
            </a:extLst>
          </p:cNvPr>
          <p:cNvSpPr>
            <a:spLocks noGrp="1"/>
          </p:cNvSpPr>
          <p:nvPr/>
        </p:nvSpPr>
        <p:spPr>
          <a:xfrm>
            <a:off x="6305550" y="2724150"/>
            <a:ext cx="508635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37835B5-9082-4363-A4A9-9238247FB752}"/>
              </a:ext>
            </a:extLst>
          </p:cNvPr>
          <p:cNvSpPr>
            <a:spLocks noGrp="1"/>
          </p:cNvSpPr>
          <p:nvPr/>
        </p:nvSpPr>
        <p:spPr>
          <a:xfrm>
            <a:off x="6305550" y="2724150"/>
            <a:ext cx="5086350" cy="76200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90DBEE2-227C-4EFC-8C64-86506B51EAB8}"/>
              </a:ext>
            </a:extLst>
          </p:cNvPr>
          <p:cNvSpPr>
            <a:spLocks noGrp="1"/>
          </p:cNvSpPr>
          <p:nvPr/>
        </p:nvSpPr>
        <p:spPr>
          <a:xfrm>
            <a:off x="6515100" y="2914650"/>
            <a:ext cx="466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Lazo abierto del modelo realista en Simscape</a:t>
            </a:r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7DB3D62B-1F39-44B5-B4D8-BBC4A42CEB9C}"/>
              </a:ext>
            </a:extLst>
          </p:cNvPr>
          <p:cNvSpPr>
            <a:spLocks noGrp="1"/>
          </p:cNvSpPr>
          <p:nvPr/>
        </p:nvSpPr>
        <p:spPr>
          <a:xfrm>
            <a:off x="800100" y="5353050"/>
            <a:ext cx="10591800" cy="819150"/>
          </a:xfrm>
          <a:prstGeom prst="roundRect">
            <a:avLst>
              <a:gd name="adj" fmla="val 9302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BE8A0EE-CD97-448E-AA75-DABC72E8CF2B}"/>
              </a:ext>
            </a:extLst>
          </p:cNvPr>
          <p:cNvSpPr>
            <a:spLocks noGrp="1"/>
          </p:cNvSpPr>
          <p:nvPr/>
        </p:nvSpPr>
        <p:spPr>
          <a:xfrm>
            <a:off x="800100" y="5353050"/>
            <a:ext cx="76200" cy="8191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9FE486B-E467-4819-9766-57969DC538E7}"/>
              </a:ext>
            </a:extLst>
          </p:cNvPr>
          <p:cNvSpPr>
            <a:spLocks noGrp="1"/>
          </p:cNvSpPr>
          <p:nvPr/>
        </p:nvSpPr>
        <p:spPr>
          <a:xfrm>
            <a:off x="1028700" y="5448300"/>
            <a:ext cx="2286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6B49"/>
                </a:solidFill>
              </a:defRPr>
            </a:pPr>
            <a:r>
              <a:rPr sz="900" b="1">
                <a:solidFill>
                  <a:srgbClr val="116B49"/>
                </a:solidFill>
              </a:rPr>
              <a:t>Lectura sugerida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AE023D9-3644-4736-BB5C-A8F02D6C3D38}"/>
              </a:ext>
            </a:extLst>
          </p:cNvPr>
          <p:cNvSpPr>
            <a:spLocks noGrp="1"/>
          </p:cNvSpPr>
          <p:nvPr/>
        </p:nvSpPr>
        <p:spPr>
          <a:xfrm>
            <a:off x="3181350" y="5448300"/>
            <a:ext cx="79819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101214"/>
                </a:solidFill>
              </a:defRPr>
            </a:pPr>
            <a:r>
              <a:rPr lang="es-ES_tradnl" sz="900" b="0" dirty="0">
                <a:solidFill>
                  <a:srgbClr val="101214"/>
                </a:solidFill>
              </a:rPr>
              <a:t>Comparar rapidez, amortiguamiento y valor final.  ·  Identificar diferencias debidas a saturación u otros efectos </a:t>
            </a:r>
            <a:r>
              <a:rPr lang="es-ES_tradnl" sz="900" b="0" dirty="0" err="1">
                <a:solidFill>
                  <a:srgbClr val="101214"/>
                </a:solidFill>
              </a:rPr>
              <a:t>fisicos</a:t>
            </a:r>
            <a:r>
              <a:rPr lang="es-ES_tradnl" sz="900" b="0" dirty="0">
                <a:solidFill>
                  <a:srgbClr val="101214"/>
                </a:solidFill>
              </a:rPr>
              <a:t> adicionales.  ·  Usar esta </a:t>
            </a:r>
            <a:r>
              <a:rPr lang="es-ES_tradnl" sz="900" b="0" dirty="0" err="1">
                <a:solidFill>
                  <a:srgbClr val="101214"/>
                </a:solidFill>
              </a:rPr>
              <a:t>comparacion</a:t>
            </a:r>
            <a:r>
              <a:rPr lang="es-ES_tradnl" sz="900" b="0">
                <a:solidFill>
                  <a:srgbClr val="101214"/>
                </a:solidFill>
              </a:rPr>
              <a:t> para justificar el alcance del modelo aproximado.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DF82A11-F464-48A6-B30A-25C0B9499BF0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Enunciado Actividad 2, Curso de Control, 2026. · Desarrollo propio del grupo a partir del modelado fisico del sistema.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4AE9E37-18F4-4B8F-9B15-C63B8423E5A2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0F6DA86-0725-4EDC-95CD-877A87252FE2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14906725-08A4-66A0-FD1E-DEC862FD82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22" y="3345564"/>
            <a:ext cx="4835978" cy="1509278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6ABE20B0-B40C-09A4-BD87-85D53216B4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00" y="3208469"/>
            <a:ext cx="4667250" cy="181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685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F3F756B2-143B-4DF5-96FF-66A72223A1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B11D8F28-35BE-43B5-A436-36D2274B58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607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DA923E9-762F-4024-B492-C0232554C8C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DISENO IMC-PID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9431463-C313-4DDE-9396-57710FA8455F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11 / 19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52B3EFB-4453-4868-9729-1E2A37738D7B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85BC6CF-387D-496A-B3C8-DFCA2ACB616A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7C2F03A-F23A-4C22-AC37-BE9956E5DA01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572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Sintonia IMC-PID sobre el modelo reducido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4009EBF-161A-4DA2-980A-59313566EF83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Se emplea el modelo reducido para obtener un PID ideal interpretable y consistente con las notas de clase.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990B0824-209E-46B3-B18F-F3C91FD729F5}"/>
              </a:ext>
            </a:extLst>
          </p:cNvPr>
          <p:cNvSpPr>
            <a:spLocks noGrp="1"/>
          </p:cNvSpPr>
          <p:nvPr/>
        </p:nvSpPr>
        <p:spPr>
          <a:xfrm>
            <a:off x="800100" y="2686050"/>
            <a:ext cx="105918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15345E5-E9CC-4B2B-BEA0-97CEB6FEC307}"/>
              </a:ext>
            </a:extLst>
          </p:cNvPr>
          <p:cNvSpPr>
            <a:spLocks noGrp="1"/>
          </p:cNvSpPr>
          <p:nvPr/>
        </p:nvSpPr>
        <p:spPr>
          <a:xfrm>
            <a:off x="800100" y="2686050"/>
            <a:ext cx="10591800" cy="762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4F6111B-C828-43A8-B072-68DFC88277B0}"/>
              </a:ext>
            </a:extLst>
          </p:cNvPr>
          <p:cNvSpPr>
            <a:spLocks noGrp="1"/>
          </p:cNvSpPr>
          <p:nvPr/>
        </p:nvSpPr>
        <p:spPr>
          <a:xfrm>
            <a:off x="1009650" y="2857500"/>
            <a:ext cx="10172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Cadena de sintonia IMC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7817391-A8A0-4B34-84FA-5E6BB916B092}"/>
              </a:ext>
            </a:extLst>
          </p:cNvPr>
          <p:cNvSpPr>
            <a:spLocks noGrp="1"/>
          </p:cNvSpPr>
          <p:nvPr/>
        </p:nvSpPr>
        <p:spPr>
          <a:xfrm>
            <a:off x="1009650" y="3219450"/>
            <a:ext cx="101727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Gr(s) = 1 / (s² + 5 s + 100)</a:t>
            </a:r>
          </a:p>
          <a:p>
            <a:pPr algn="l"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F(s) = 1 / (λ s + 1)</a:t>
            </a:r>
          </a:p>
          <a:p>
            <a:pPr algn="l">
              <a:defRPr sz="1650" b="0">
                <a:solidFill>
                  <a:srgbClr val="101214"/>
                </a:solidFill>
              </a:defRPr>
            </a:pPr>
            <a:r>
              <a:rPr sz="1650" b="0">
                <a:solidFill>
                  <a:srgbClr val="101214"/>
                </a:solidFill>
              </a:rPr>
              <a:t>C(s) = Kc (1 + 1 / (Ti s) + Td s)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F4FF3CCF-1117-4760-8022-FCC5DAF0662F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3143250" cy="1390650"/>
          </a:xfrm>
          <a:prstGeom prst="roundRect">
            <a:avLst>
              <a:gd name="adj" fmla="val 547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D2C0E0C-F426-4D60-B3F4-9E19B53A8836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3143250" cy="666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29B0F53-B496-435C-BC15-D4EE004465C9}"/>
              </a:ext>
            </a:extLst>
          </p:cNvPr>
          <p:cNvSpPr>
            <a:spLocks noGrp="1"/>
          </p:cNvSpPr>
          <p:nvPr/>
        </p:nvSpPr>
        <p:spPr>
          <a:xfrm>
            <a:off x="1085850" y="45339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 dirty="0" err="1">
                <a:solidFill>
                  <a:srgbClr val="101214"/>
                </a:solidFill>
              </a:rPr>
              <a:t>λ</a:t>
            </a:r>
            <a:r>
              <a:rPr sz="2550" b="1" dirty="0">
                <a:solidFill>
                  <a:srgbClr val="101214"/>
                </a:solidFill>
              </a:rPr>
              <a:t> = 0.1 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62B8B4B-E174-487E-886C-2B956C9DC83C}"/>
              </a:ext>
            </a:extLst>
          </p:cNvPr>
          <p:cNvSpPr>
            <a:spLocks noGrp="1"/>
          </p:cNvSpPr>
          <p:nvPr/>
        </p:nvSpPr>
        <p:spPr>
          <a:xfrm>
            <a:off x="1104900" y="50863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Parametro de sintonia IMC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B373B37-C415-4A2E-9178-ED7853DF7958}"/>
              </a:ext>
            </a:extLst>
          </p:cNvPr>
          <p:cNvSpPr>
            <a:spLocks noGrp="1"/>
          </p:cNvSpPr>
          <p:nvPr/>
        </p:nvSpPr>
        <p:spPr>
          <a:xfrm>
            <a:off x="1104900" y="52959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Se escoge para mantener P = 50</a:t>
            </a:r>
          </a:p>
        </p:txBody>
      </p:sp>
      <p:sp>
        <p:nvSpPr>
          <p:cNvPr id="19" name="Rectángulo redondeado 18">
            <a:extLst>
              <a:ext uri="{FF2B5EF4-FFF2-40B4-BE49-F238E27FC236}">
                <a16:creationId xmlns:a16="http://schemas.microsoft.com/office/drawing/2014/main" id="{819B1E1F-795A-4D58-9600-F196A696DE7E}"/>
              </a:ext>
            </a:extLst>
          </p:cNvPr>
          <p:cNvSpPr>
            <a:spLocks noGrp="1"/>
          </p:cNvSpPr>
          <p:nvPr/>
        </p:nvSpPr>
        <p:spPr>
          <a:xfrm>
            <a:off x="4400550" y="4305300"/>
            <a:ext cx="3143250" cy="1390650"/>
          </a:xfrm>
          <a:prstGeom prst="roundRect">
            <a:avLst>
              <a:gd name="adj" fmla="val 547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0E984D5-EB61-4FDF-B2E6-6226F54E5B4A}"/>
              </a:ext>
            </a:extLst>
          </p:cNvPr>
          <p:cNvSpPr>
            <a:spLocks noGrp="1"/>
          </p:cNvSpPr>
          <p:nvPr/>
        </p:nvSpPr>
        <p:spPr>
          <a:xfrm>
            <a:off x="4400550" y="4305300"/>
            <a:ext cx="3143250" cy="66675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F2573EB-8AC6-4285-AC5E-609269FB8692}"/>
              </a:ext>
            </a:extLst>
          </p:cNvPr>
          <p:cNvSpPr>
            <a:spLocks noGrp="1"/>
          </p:cNvSpPr>
          <p:nvPr/>
        </p:nvSpPr>
        <p:spPr>
          <a:xfrm>
            <a:off x="4495800" y="4667250"/>
            <a:ext cx="2952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000" b="1" dirty="0" err="1">
                <a:solidFill>
                  <a:srgbClr val="101214"/>
                </a:solidFill>
              </a:rPr>
              <a:t>K</a:t>
            </a:r>
            <a:r>
              <a:rPr lang="en-US" sz="2000" b="1" dirty="0" err="1">
                <a:solidFill>
                  <a:srgbClr val="101214"/>
                </a:solidFill>
              </a:rPr>
              <a:t>p</a:t>
            </a:r>
            <a:r>
              <a:rPr sz="2000" b="1" dirty="0">
                <a:solidFill>
                  <a:srgbClr val="101214"/>
                </a:solidFill>
              </a:rPr>
              <a:t> = 50</a:t>
            </a:r>
            <a:r>
              <a:rPr lang="en-US" sz="2000" b="1" dirty="0">
                <a:solidFill>
                  <a:srgbClr val="101214"/>
                </a:solidFill>
              </a:rPr>
              <a:t> , </a:t>
            </a:r>
            <a:r>
              <a:rPr lang="en-US" sz="2000" b="1" dirty="0" err="1">
                <a:solidFill>
                  <a:srgbClr val="101214"/>
                </a:solidFill>
              </a:rPr>
              <a:t>Kd</a:t>
            </a:r>
            <a:r>
              <a:rPr lang="en-US" sz="2000" b="1" dirty="0">
                <a:solidFill>
                  <a:srgbClr val="101214"/>
                </a:solidFill>
              </a:rPr>
              <a:t> = 10, Ki =1000</a:t>
            </a:r>
            <a:endParaRPr sz="2000" b="1" dirty="0">
              <a:solidFill>
                <a:srgbClr val="101214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A25E67F-F65A-4452-8779-5963C3433A72}"/>
              </a:ext>
            </a:extLst>
          </p:cNvPr>
          <p:cNvSpPr>
            <a:spLocks noGrp="1"/>
          </p:cNvSpPr>
          <p:nvPr/>
        </p:nvSpPr>
        <p:spPr>
          <a:xfrm>
            <a:off x="4629150" y="50863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Ganancia del PID ideal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49A99F5-26B4-47B2-966A-C1D085BB143D}"/>
              </a:ext>
            </a:extLst>
          </p:cNvPr>
          <p:cNvSpPr>
            <a:spLocks noGrp="1"/>
          </p:cNvSpPr>
          <p:nvPr/>
        </p:nvSpPr>
        <p:spPr>
          <a:xfrm>
            <a:off x="4629150" y="52959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Resultado de la sintonia</a:t>
            </a:r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58482EDB-89D3-48F7-87D9-BE5C96C4927C}"/>
              </a:ext>
            </a:extLst>
          </p:cNvPr>
          <p:cNvSpPr>
            <a:spLocks noGrp="1"/>
          </p:cNvSpPr>
          <p:nvPr/>
        </p:nvSpPr>
        <p:spPr>
          <a:xfrm>
            <a:off x="7924800" y="4305300"/>
            <a:ext cx="3143250" cy="1390650"/>
          </a:xfrm>
          <a:prstGeom prst="roundRect">
            <a:avLst>
              <a:gd name="adj" fmla="val 547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34D2A89-EAB7-4802-AAC6-F1C129E8ADC3}"/>
              </a:ext>
            </a:extLst>
          </p:cNvPr>
          <p:cNvSpPr>
            <a:spLocks noGrp="1"/>
          </p:cNvSpPr>
          <p:nvPr/>
        </p:nvSpPr>
        <p:spPr>
          <a:xfrm>
            <a:off x="7924800" y="4305300"/>
            <a:ext cx="3143250" cy="66675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32A36EF-C605-4057-8F42-D191F087E015}"/>
              </a:ext>
            </a:extLst>
          </p:cNvPr>
          <p:cNvSpPr>
            <a:spLocks noGrp="1"/>
          </p:cNvSpPr>
          <p:nvPr/>
        </p:nvSpPr>
        <p:spPr>
          <a:xfrm>
            <a:off x="8134350" y="45339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 dirty="0">
                <a:solidFill>
                  <a:srgbClr val="101214"/>
                </a:solidFill>
              </a:rPr>
              <a:t>Ti = 0.05 s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31CCAB9-F88A-450C-BA35-C108EF9E6876}"/>
              </a:ext>
            </a:extLst>
          </p:cNvPr>
          <p:cNvSpPr>
            <a:spLocks noGrp="1"/>
          </p:cNvSpPr>
          <p:nvPr/>
        </p:nvSpPr>
        <p:spPr>
          <a:xfrm>
            <a:off x="8153400" y="50863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Td = 0.2 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C0EA377-25BD-4095-A9AE-0F45C4286EA8}"/>
              </a:ext>
            </a:extLst>
          </p:cNvPr>
          <p:cNvSpPr>
            <a:spLocks noGrp="1"/>
          </p:cNvSpPr>
          <p:nvPr/>
        </p:nvSpPr>
        <p:spPr>
          <a:xfrm>
            <a:off x="8153400" y="52959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Tiempos del PID ideal</a:t>
            </a:r>
          </a:p>
        </p:txBody>
      </p:sp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2BE58EAC-2CC7-44C6-A6CE-3A25DD02772B}"/>
              </a:ext>
            </a:extLst>
          </p:cNvPr>
          <p:cNvSpPr>
            <a:spLocks noGrp="1"/>
          </p:cNvSpPr>
          <p:nvPr/>
        </p:nvSpPr>
        <p:spPr>
          <a:xfrm>
            <a:off x="800100" y="5886450"/>
            <a:ext cx="10591800" cy="381000"/>
          </a:xfrm>
          <a:prstGeom prst="roundRect">
            <a:avLst>
              <a:gd name="adj" fmla="val 20000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6FA280C-39D7-4C17-816A-E8F152BE4B7F}"/>
              </a:ext>
            </a:extLst>
          </p:cNvPr>
          <p:cNvSpPr>
            <a:spLocks noGrp="1"/>
          </p:cNvSpPr>
          <p:nvPr/>
        </p:nvSpPr>
        <p:spPr>
          <a:xfrm>
            <a:off x="800100" y="5886450"/>
            <a:ext cx="76200" cy="3810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4A7A873-2848-49E9-9AA4-659BC89E160A}"/>
              </a:ext>
            </a:extLst>
          </p:cNvPr>
          <p:cNvSpPr>
            <a:spLocks noGrp="1"/>
          </p:cNvSpPr>
          <p:nvPr/>
        </p:nvSpPr>
        <p:spPr>
          <a:xfrm>
            <a:off x="1028700" y="59817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6B49"/>
                </a:solidFill>
              </a:defRPr>
            </a:pPr>
            <a:r>
              <a:rPr sz="900" b="1">
                <a:solidFill>
                  <a:srgbClr val="116B49"/>
                </a:solidFill>
              </a:rPr>
              <a:t>Resultado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E96719A-32D6-4317-8198-B9D23091A0B6}"/>
              </a:ext>
            </a:extLst>
          </p:cNvPr>
          <p:cNvSpPr>
            <a:spLocks noGrp="1"/>
          </p:cNvSpPr>
          <p:nvPr/>
        </p:nvSpPr>
        <p:spPr>
          <a:xfrm>
            <a:off x="3181350" y="5981700"/>
            <a:ext cx="798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101214"/>
                </a:solidFill>
              </a:defRPr>
            </a:pPr>
            <a:r>
              <a:rPr sz="900" b="0">
                <a:solidFill>
                  <a:srgbClr val="101214"/>
                </a:solidFill>
              </a:rPr>
              <a:t>PID ideal final: C(s) = 50 (1 + 1 / (0.05 s) + 0.2 s)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072E4A2-73F7-4142-AE5F-801787149130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N. Quijano, IMC y PID, notas de clase. · N. Quijano, Controladores PID: Sintonizacion, notas de clase. · Desarrollo propio del grupo a partir del modelado fisico del sistema.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DB90198-8683-4FEE-A9C3-4C1D5720CC84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67C0D585-D8FF-401E-9623-431219BD6554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</p:spTree>
    <p:extLst>
      <p:ext uri="{BB962C8B-B14F-4D97-AF65-F5344CB8AC3E}">
        <p14:creationId xmlns:p14="http://schemas.microsoft.com/office/powerpoint/2010/main" val="1159789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F3F756B2-143B-4DF5-96FF-66A72223A1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DE0DA798-44B5-433A-9B2F-7906FB0E3D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294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8A258F3-F49E-489C-A0C2-4D103448D8D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IMPLEMENTACION DEL PID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BE26E1F-FAE3-4852-9B2D-ED77A3E95636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12 / 19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80D49A3-3313-4F3C-B9DD-8EFE9BF4EA2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E0ACD5D-3F61-4C85-BFF1-F61EE61B273A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C998E51-66FC-438C-9B8C-A554EA45B426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572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Equivalencia con el bloque PID de Simulink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CB237FD-DAF9-4E43-81EA-5366B7DEA5E5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El bloque de Simulink no usa directamente Ki y Kd, sino los tiempos I y D del PID ideal mas un filtro derivativo.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ABE20284-B947-44D1-AF12-0F024B4A4E5B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33528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65ADFD1-C358-4A3A-9B2F-726017278D2D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3352800" cy="762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97B4A2E-2594-4145-9BA2-3AC2FB40C971}"/>
              </a:ext>
            </a:extLst>
          </p:cNvPr>
          <p:cNvSpPr>
            <a:spLocks noGrp="1"/>
          </p:cNvSpPr>
          <p:nvPr/>
        </p:nvSpPr>
        <p:spPr>
          <a:xfrm>
            <a:off x="1009650" y="2895600"/>
            <a:ext cx="2933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Forma ideal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59D8EA1-2022-4EA9-8E5D-F240389BB29B}"/>
              </a:ext>
            </a:extLst>
          </p:cNvPr>
          <p:cNvSpPr>
            <a:spLocks noGrp="1"/>
          </p:cNvSpPr>
          <p:nvPr/>
        </p:nvSpPr>
        <p:spPr>
          <a:xfrm>
            <a:off x="1009650" y="3257550"/>
            <a:ext cx="29337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01214"/>
                </a:solidFill>
              </a:defRPr>
            </a:pPr>
            <a:r>
              <a:rPr sz="1425" b="0">
                <a:solidFill>
                  <a:srgbClr val="101214"/>
                </a:solidFill>
              </a:rPr>
              <a:t>PID ideal</a:t>
            </a:r>
          </a:p>
          <a:p>
            <a:pPr algn="l">
              <a:defRPr sz="1425" b="0">
                <a:solidFill>
                  <a:srgbClr val="101214"/>
                </a:solidFill>
              </a:defRPr>
            </a:pPr>
            <a:r>
              <a:rPr sz="1425" b="0">
                <a:solidFill>
                  <a:srgbClr val="101214"/>
                </a:solidFill>
              </a:rPr>
              <a:t>C(s) = Kc (1 + 1 / (Ti s) + Td s)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4E4542E0-EBDC-442F-AE28-176B4F309BF5}"/>
              </a:ext>
            </a:extLst>
          </p:cNvPr>
          <p:cNvSpPr>
            <a:spLocks noGrp="1"/>
          </p:cNvSpPr>
          <p:nvPr/>
        </p:nvSpPr>
        <p:spPr>
          <a:xfrm>
            <a:off x="4419600" y="2724150"/>
            <a:ext cx="33528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4AFA449-4807-47EE-BE3D-3EB59DA84ED6}"/>
              </a:ext>
            </a:extLst>
          </p:cNvPr>
          <p:cNvSpPr>
            <a:spLocks noGrp="1"/>
          </p:cNvSpPr>
          <p:nvPr/>
        </p:nvSpPr>
        <p:spPr>
          <a:xfrm>
            <a:off x="4419600" y="2724150"/>
            <a:ext cx="3352800" cy="76200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A2DEAC0-4B20-4716-BF56-248844860692}"/>
              </a:ext>
            </a:extLst>
          </p:cNvPr>
          <p:cNvSpPr>
            <a:spLocks noGrp="1"/>
          </p:cNvSpPr>
          <p:nvPr/>
        </p:nvSpPr>
        <p:spPr>
          <a:xfrm>
            <a:off x="4629150" y="2895600"/>
            <a:ext cx="2933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Bloque PID filtrado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E5C1079-D7C7-43FB-9DCD-146B0B4C9803}"/>
              </a:ext>
            </a:extLst>
          </p:cNvPr>
          <p:cNvSpPr>
            <a:spLocks noGrp="1"/>
          </p:cNvSpPr>
          <p:nvPr/>
        </p:nvSpPr>
        <p:spPr>
          <a:xfrm>
            <a:off x="4629150" y="3257550"/>
            <a:ext cx="29337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01214"/>
                </a:solidFill>
              </a:defRPr>
            </a:pPr>
            <a:r>
              <a:rPr sz="1425" b="0">
                <a:solidFill>
                  <a:srgbClr val="101214"/>
                </a:solidFill>
              </a:rPr>
              <a:t>Bloque de Simulink</a:t>
            </a:r>
          </a:p>
          <a:p>
            <a:pPr algn="l">
              <a:defRPr sz="1425" b="0">
                <a:solidFill>
                  <a:srgbClr val="101214"/>
                </a:solidFill>
              </a:defRPr>
            </a:pPr>
            <a:r>
              <a:rPr sz="1425" b="0">
                <a:solidFill>
                  <a:srgbClr val="101214"/>
                </a:solidFill>
              </a:rPr>
              <a:t>C(s) = P (1 + 1 / (I s) + D N / (1 + N / s))</a:t>
            </a:r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00F25300-991E-4A80-9181-2DBCF10B108F}"/>
              </a:ext>
            </a:extLst>
          </p:cNvPr>
          <p:cNvSpPr>
            <a:spLocks noGrp="1"/>
          </p:cNvSpPr>
          <p:nvPr/>
        </p:nvSpPr>
        <p:spPr>
          <a:xfrm>
            <a:off x="8039100" y="2724150"/>
            <a:ext cx="33528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81BFC05-E522-4AD7-8F7C-4B6FEA78E522}"/>
              </a:ext>
            </a:extLst>
          </p:cNvPr>
          <p:cNvSpPr>
            <a:spLocks noGrp="1"/>
          </p:cNvSpPr>
          <p:nvPr/>
        </p:nvSpPr>
        <p:spPr>
          <a:xfrm>
            <a:off x="8039100" y="2724150"/>
            <a:ext cx="3352800" cy="76200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71AACB5-BEAC-4D0B-9A0D-602904C056A3}"/>
              </a:ext>
            </a:extLst>
          </p:cNvPr>
          <p:cNvSpPr>
            <a:spLocks noGrp="1"/>
          </p:cNvSpPr>
          <p:nvPr/>
        </p:nvSpPr>
        <p:spPr>
          <a:xfrm>
            <a:off x="8248650" y="2895600"/>
            <a:ext cx="2933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Conversion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A8AFD4F-4E93-4870-9C5A-B379616515DA}"/>
              </a:ext>
            </a:extLst>
          </p:cNvPr>
          <p:cNvSpPr>
            <a:spLocks noGrp="1"/>
          </p:cNvSpPr>
          <p:nvPr/>
        </p:nvSpPr>
        <p:spPr>
          <a:xfrm>
            <a:off x="8248650" y="3257550"/>
            <a:ext cx="2933700" cy="152476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Equivalencias</a:t>
            </a:r>
          </a:p>
          <a:p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P = Kc</a:t>
            </a:r>
          </a:p>
          <a:p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I = Ti</a:t>
            </a:r>
          </a:p>
          <a:p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D = Td</a:t>
            </a:r>
          </a:p>
          <a:p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N = 10</a:t>
            </a:r>
          </a:p>
          <a:p>
            <a:endParaRPr sz="1350" b="0">
              <a:solidFill>
                <a:srgbClr val="101214"/>
              </a:solidFill>
            </a:endParaRPr>
          </a:p>
          <a:p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Importante: I ≠ Ki y D ≠ Kd</a:t>
            </a:r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2B1B274A-840D-45E2-9B85-042585F7290A}"/>
              </a:ext>
            </a:extLst>
          </p:cNvPr>
          <p:cNvSpPr>
            <a:spLocks noGrp="1"/>
          </p:cNvSpPr>
          <p:nvPr/>
        </p:nvSpPr>
        <p:spPr>
          <a:xfrm>
            <a:off x="800100" y="5238750"/>
            <a:ext cx="10591800" cy="685800"/>
          </a:xfrm>
          <a:prstGeom prst="roundRect">
            <a:avLst>
              <a:gd name="adj" fmla="val 11111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3F9B199-F193-4CD1-999B-81774A726187}"/>
              </a:ext>
            </a:extLst>
          </p:cNvPr>
          <p:cNvSpPr>
            <a:spLocks noGrp="1"/>
          </p:cNvSpPr>
          <p:nvPr/>
        </p:nvSpPr>
        <p:spPr>
          <a:xfrm>
            <a:off x="800100" y="5238750"/>
            <a:ext cx="76200" cy="6858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C48215-113C-4B88-B252-499CD7E91FB7}"/>
              </a:ext>
            </a:extLst>
          </p:cNvPr>
          <p:cNvSpPr>
            <a:spLocks noGrp="1"/>
          </p:cNvSpPr>
          <p:nvPr/>
        </p:nvSpPr>
        <p:spPr>
          <a:xfrm>
            <a:off x="1028700" y="5334000"/>
            <a:ext cx="228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6B49"/>
                </a:solidFill>
              </a:defRPr>
            </a:pPr>
            <a:r>
              <a:rPr sz="900" b="1">
                <a:solidFill>
                  <a:srgbClr val="116B49"/>
                </a:solidFill>
              </a:rPr>
              <a:t>Implementacion final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AED46A5-1050-4324-8F02-4A47A661F573}"/>
              </a:ext>
            </a:extLst>
          </p:cNvPr>
          <p:cNvSpPr>
            <a:spLocks noGrp="1"/>
          </p:cNvSpPr>
          <p:nvPr/>
        </p:nvSpPr>
        <p:spPr>
          <a:xfrm>
            <a:off x="3181350" y="5334000"/>
            <a:ext cx="7981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101214"/>
                </a:solidFill>
              </a:defRPr>
            </a:pPr>
            <a:r>
              <a:rPr sz="900" b="0">
                <a:solidFill>
                  <a:srgbClr val="101214"/>
                </a:solidFill>
              </a:rPr>
              <a:t>Valores usados en Simulink: P = 50, I = 0.05, D = 0.2, N = 10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6291810-3353-4BA7-9229-F8209738B2AC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N. Quijano, IMC y PID, notas de clase. · N. Quijano, Controladores PID: Sintonizacion, notas de clase. · Desarrollo propio del grupo a partir del modelado fisico del sistema.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4DE156B-5E1C-486E-BEAE-85B76E39512C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A9F7BA4-ABBA-4951-B6D0-2C37713CDCA5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</p:spTree>
    <p:extLst>
      <p:ext uri="{BB962C8B-B14F-4D97-AF65-F5344CB8AC3E}">
        <p14:creationId xmlns:p14="http://schemas.microsoft.com/office/powerpoint/2010/main" val="515136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A478DE6-E58F-4CC3-99E9-AB0DF3671F1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RESULTADOS PRINCIPALES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C0CFD37-A52E-4DF0-85A1-12ACA143EC64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13 / 19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B3F0576-0E2F-4C2A-8E9E-2EFC5500ED9C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818BD873-0FFE-4315-8013-E4C0365E4CCC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B24765B-2969-4594-855D-3493F2794B78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572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 dirty="0" err="1">
                <a:solidFill>
                  <a:srgbClr val="101214"/>
                </a:solidFill>
              </a:rPr>
              <a:t>Lazo</a:t>
            </a:r>
            <a:r>
              <a:rPr sz="3000" b="1" dirty="0">
                <a:solidFill>
                  <a:srgbClr val="101214"/>
                </a:solidFill>
              </a:rPr>
              <a:t> </a:t>
            </a:r>
            <a:r>
              <a:rPr sz="3000" b="1" dirty="0" err="1">
                <a:solidFill>
                  <a:srgbClr val="101214"/>
                </a:solidFill>
              </a:rPr>
              <a:t>cerrado</a:t>
            </a:r>
            <a:r>
              <a:rPr sz="3000" b="1" dirty="0">
                <a:solidFill>
                  <a:srgbClr val="101214"/>
                </a:solidFill>
              </a:rPr>
              <a:t> </a:t>
            </a:r>
            <a:r>
              <a:rPr sz="3000" b="1" dirty="0" err="1">
                <a:solidFill>
                  <a:srgbClr val="101214"/>
                </a:solidFill>
              </a:rPr>
              <a:t>en</a:t>
            </a:r>
            <a:r>
              <a:rPr sz="3000" b="1" dirty="0">
                <a:solidFill>
                  <a:srgbClr val="101214"/>
                </a:solidFill>
              </a:rPr>
              <a:t> </a:t>
            </a:r>
            <a:r>
              <a:rPr sz="3000" b="1" dirty="0" err="1">
                <a:solidFill>
                  <a:srgbClr val="101214"/>
                </a:solidFill>
              </a:rPr>
              <a:t>regulaci</a:t>
            </a:r>
            <a:r>
              <a:rPr lang="es-CO" sz="3000" b="1" dirty="0" err="1">
                <a:solidFill>
                  <a:srgbClr val="101214"/>
                </a:solidFill>
              </a:rPr>
              <a:t>ó</a:t>
            </a:r>
            <a:r>
              <a:rPr sz="3000" b="1" dirty="0">
                <a:solidFill>
                  <a:srgbClr val="101214"/>
                </a:solidFill>
              </a:rPr>
              <a:t>n con setpoint </a:t>
            </a:r>
            <a:r>
              <a:rPr sz="3000" b="1" dirty="0" err="1">
                <a:solidFill>
                  <a:srgbClr val="101214"/>
                </a:solidFill>
              </a:rPr>
              <a:t>fijo</a:t>
            </a:r>
            <a:endParaRPr sz="3000" b="1" dirty="0">
              <a:solidFill>
                <a:srgbClr val="101214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D296441-47B8-4CAA-866C-B51BF47C5879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0363A"/>
                </a:solidFill>
              </a:defRPr>
            </a:pPr>
            <a:r>
              <a:rPr sz="1350" b="0">
                <a:solidFill>
                  <a:srgbClr val="30363A"/>
                </a:solidFill>
              </a:rPr>
              <a:t>Caso principal del proyecto: rechazo de perturbaciones con r(t)=0 para mantener estable el sensor.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1150F5EA-0CE9-46B8-9E10-8EC11ECFC193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10591800" cy="262890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C3A142D-0743-4282-8DCD-8CFE20D10D35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10591800" cy="762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2A3C20F-8EF8-47AB-874B-235BF6FAB509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10172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Lazo cerrado Simscape, regulacion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33970F78-0DCF-46B8-8F22-0510D22E4AE7}"/>
              </a:ext>
            </a:extLst>
          </p:cNvPr>
          <p:cNvSpPr>
            <a:spLocks noGrp="1"/>
          </p:cNvSpPr>
          <p:nvPr/>
        </p:nvSpPr>
        <p:spPr>
          <a:xfrm>
            <a:off x="800100" y="5505450"/>
            <a:ext cx="10591800" cy="685800"/>
          </a:xfrm>
          <a:prstGeom prst="roundRect">
            <a:avLst>
              <a:gd name="adj" fmla="val 11111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B1BCF16-EE25-47A4-BB7D-D0B5A727A83D}"/>
              </a:ext>
            </a:extLst>
          </p:cNvPr>
          <p:cNvSpPr>
            <a:spLocks noGrp="1"/>
          </p:cNvSpPr>
          <p:nvPr/>
        </p:nvSpPr>
        <p:spPr>
          <a:xfrm>
            <a:off x="800100" y="5505450"/>
            <a:ext cx="76200" cy="6858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56683CF-E0D3-4549-9CB3-1E3DA837453B}"/>
              </a:ext>
            </a:extLst>
          </p:cNvPr>
          <p:cNvSpPr>
            <a:spLocks noGrp="1"/>
          </p:cNvSpPr>
          <p:nvPr/>
        </p:nvSpPr>
        <p:spPr>
          <a:xfrm>
            <a:off x="1028700" y="5600700"/>
            <a:ext cx="228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6B49"/>
                </a:solidFill>
              </a:defRPr>
            </a:pPr>
            <a:r>
              <a:rPr sz="900" b="1">
                <a:solidFill>
                  <a:srgbClr val="116B49"/>
                </a:solidFill>
              </a:rPr>
              <a:t>Lectura sugerida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244E5DD-F8E4-4E81-B7E1-0865AC1709E7}"/>
              </a:ext>
            </a:extLst>
          </p:cNvPr>
          <p:cNvSpPr>
            <a:spLocks noGrp="1"/>
          </p:cNvSpPr>
          <p:nvPr/>
        </p:nvSpPr>
        <p:spPr>
          <a:xfrm>
            <a:off x="3181350" y="5600700"/>
            <a:ext cx="7981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101214"/>
                </a:solidFill>
              </a:defRPr>
            </a:pPr>
            <a:r>
              <a:rPr lang="es-ES_tradnl" sz="900" b="0" dirty="0">
                <a:solidFill>
                  <a:srgbClr val="101214"/>
                </a:solidFill>
              </a:rPr>
              <a:t>La perturbación produce una desviación transitoria y luego la plataforma retorna al equilibrio.  ·  La respuesta es aceptable para la aplicación porque la posición vuelve cerca de cero.  Este es el escenario físicamente relevante para proteger la medición del sensor.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C19D57D-0A48-4764-AB88-6378E4E0744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Enunciado Actividad 2, Curso de Control, 2026. · Desarrollo propio del grupo a partir del modelado fisico del sistema.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D0345B0-9F72-42F2-A77A-82F5D305EC9D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459643D-D9ED-471F-ACE0-63564D4CF7C4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43751190-5077-60D9-0E51-36E2FE9BB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2800350"/>
            <a:ext cx="4456009" cy="252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984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4830905-C5F7-47E9-9308-8639205D2F7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RESULTADOS COMPLEMENTARIOS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6C2F36A-4DE3-463F-94CC-F28678A8A747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14 / 19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5385EC3-CE44-4632-A44A-0A43BA0BDA41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A29D4E04-2B83-4CCE-8CC1-0A2FB50974FD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001A682-8FE4-49E0-B429-ACA859BC349D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572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 dirty="0" err="1">
                <a:solidFill>
                  <a:srgbClr val="101214"/>
                </a:solidFill>
              </a:rPr>
              <a:t>Seguimiento</a:t>
            </a:r>
            <a:r>
              <a:rPr sz="3000" b="1" dirty="0">
                <a:solidFill>
                  <a:srgbClr val="101214"/>
                </a:solidFill>
              </a:rPr>
              <a:t> de </a:t>
            </a:r>
            <a:r>
              <a:rPr sz="3000" b="1" dirty="0" err="1">
                <a:solidFill>
                  <a:srgbClr val="101214"/>
                </a:solidFill>
              </a:rPr>
              <a:t>referencia</a:t>
            </a:r>
            <a:r>
              <a:rPr sz="3000" b="1" dirty="0">
                <a:solidFill>
                  <a:srgbClr val="101214"/>
                </a:solidFill>
              </a:rPr>
              <a:t> de </a:t>
            </a:r>
            <a:r>
              <a:rPr sz="3000" b="1" dirty="0" err="1">
                <a:solidFill>
                  <a:srgbClr val="101214"/>
                </a:solidFill>
              </a:rPr>
              <a:t>posici</a:t>
            </a:r>
            <a:r>
              <a:rPr lang="es-CO" sz="3000" b="1" dirty="0" err="1">
                <a:solidFill>
                  <a:srgbClr val="101214"/>
                </a:solidFill>
              </a:rPr>
              <a:t>ó</a:t>
            </a:r>
            <a:r>
              <a:rPr sz="3000" b="1" dirty="0">
                <a:solidFill>
                  <a:srgbClr val="101214"/>
                </a:solidFill>
              </a:rPr>
              <a:t>n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5979A379-0F67-42FB-8D31-06DB1F5F2E30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10591800" cy="262890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D52B7A-8A74-4398-84F8-F34C095E5752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10591800" cy="762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D85AB8E-371D-46B0-960C-59E5544B0DBF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10172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Lazo cerrado Simscape, seguimiento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E202F10F-E008-4E25-80EC-B5CF7C7D3426}"/>
              </a:ext>
            </a:extLst>
          </p:cNvPr>
          <p:cNvSpPr>
            <a:spLocks noGrp="1"/>
          </p:cNvSpPr>
          <p:nvPr/>
        </p:nvSpPr>
        <p:spPr>
          <a:xfrm>
            <a:off x="800100" y="5505450"/>
            <a:ext cx="10591800" cy="685800"/>
          </a:xfrm>
          <a:prstGeom prst="roundRect">
            <a:avLst>
              <a:gd name="adj" fmla="val 11111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A680B48-C7B7-4078-9771-030D3B3BC0AF}"/>
              </a:ext>
            </a:extLst>
          </p:cNvPr>
          <p:cNvSpPr>
            <a:spLocks noGrp="1"/>
          </p:cNvSpPr>
          <p:nvPr/>
        </p:nvSpPr>
        <p:spPr>
          <a:xfrm>
            <a:off x="800100" y="5505450"/>
            <a:ext cx="76200" cy="6858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FBFF97D-9E8F-4944-93BD-ED410E7083AC}"/>
              </a:ext>
            </a:extLst>
          </p:cNvPr>
          <p:cNvSpPr>
            <a:spLocks noGrp="1"/>
          </p:cNvSpPr>
          <p:nvPr/>
        </p:nvSpPr>
        <p:spPr>
          <a:xfrm>
            <a:off x="1028700" y="5600700"/>
            <a:ext cx="228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6B49"/>
                </a:solidFill>
              </a:defRPr>
            </a:pPr>
            <a:r>
              <a:rPr sz="900" b="1" dirty="0" err="1">
                <a:solidFill>
                  <a:srgbClr val="116B49"/>
                </a:solidFill>
              </a:rPr>
              <a:t>Lectura</a:t>
            </a:r>
            <a:r>
              <a:rPr sz="900" b="1" dirty="0">
                <a:solidFill>
                  <a:srgbClr val="116B49"/>
                </a:solidFill>
              </a:rPr>
              <a:t> </a:t>
            </a:r>
            <a:r>
              <a:rPr sz="900" b="1" dirty="0" err="1">
                <a:solidFill>
                  <a:srgbClr val="116B49"/>
                </a:solidFill>
              </a:rPr>
              <a:t>sugerida</a:t>
            </a:r>
            <a:endParaRPr sz="900" b="1" dirty="0">
              <a:solidFill>
                <a:srgbClr val="116B49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64FD632-0E7E-4F9C-B016-2F971D1EF5E2}"/>
              </a:ext>
            </a:extLst>
          </p:cNvPr>
          <p:cNvSpPr>
            <a:spLocks noGrp="1"/>
          </p:cNvSpPr>
          <p:nvPr/>
        </p:nvSpPr>
        <p:spPr>
          <a:xfrm>
            <a:off x="3181350" y="5600700"/>
            <a:ext cx="7981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101214"/>
                </a:solidFill>
              </a:defRPr>
            </a:pPr>
            <a:r>
              <a:rPr lang="es-ES_tradnl" sz="900" b="0" dirty="0">
                <a:solidFill>
                  <a:srgbClr val="101214"/>
                </a:solidFill>
              </a:rPr>
              <a:t>La respuesta observada es lenta y presenta error estacionario importante.  ·  El controlador funciona mejor como regulador local que como servo de posición.  Esto no invalida el proyecto, porque la aplicación real exige principalmente r(t)=0.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6448708-43F2-4A16-A5E7-DE94AEB4C54E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Enunciado Actividad 2, Curso de Control, 2026. · Desarrollo propio del grupo a partir del modelado fisico del sistema.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3BFF361-F752-4FFA-A705-9D97C80B28B6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F2BB099-23EC-45F6-8A8C-BEED1469777E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B4864078-C59D-6D7C-BA5C-E5416206B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319" y="2844458"/>
            <a:ext cx="6770231" cy="247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159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 Placeholder 5">
            <a:extLst>
              <a:ext uri="{FF2B5EF4-FFF2-40B4-BE49-F238E27FC236}">
                <a16:creationId xmlns:a16="http://schemas.microsoft.com/office/drawing/2014/main" id="{F3F756B2-143B-4DF5-96FF-66A72223A1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83EC813-01F0-49FE-A5EB-A8A7FD36605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86F5B"/>
                </a:solidFill>
              </a:defRPr>
            </a:pPr>
            <a:r>
              <a:rPr sz="975" b="1">
                <a:solidFill>
                  <a:srgbClr val="E86F5B"/>
                </a:solidFill>
              </a:rPr>
              <a:t>RESPALDO 01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B93D6170-4D55-4F29-907B-FADBDD77A130}"/>
              </a:ext>
            </a:extLst>
          </p:cNvPr>
          <p:cNvSpPr>
            <a:spLocks noGrp="1"/>
          </p:cNvSpPr>
          <p:nvPr/>
        </p:nvSpPr>
        <p:spPr>
          <a:xfrm>
            <a:off x="8782050" y="285750"/>
            <a:ext cx="1371600" cy="247650"/>
          </a:xfrm>
          <a:prstGeom prst="roundRect">
            <a:avLst>
              <a:gd name="adj" fmla="val 30769"/>
            </a:avLst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B2864D3-3862-4630-BF15-AFFBC6BF4612}"/>
              </a:ext>
            </a:extLst>
          </p:cNvPr>
          <p:cNvSpPr>
            <a:spLocks noGrp="1"/>
          </p:cNvSpPr>
          <p:nvPr/>
        </p:nvSpPr>
        <p:spPr>
          <a:xfrm>
            <a:off x="8896350" y="333375"/>
            <a:ext cx="114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RESPALDO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31EA7DF-6C19-4BE7-996F-D3E545F91873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E86F5B"/>
                </a:solidFill>
              </a:defRPr>
            </a:pPr>
            <a:r>
              <a:rPr sz="975" b="1">
                <a:solidFill>
                  <a:srgbClr val="E86F5B"/>
                </a:solidFill>
              </a:rPr>
              <a:t>15 / 19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0041CB-CD80-408C-BBDF-5C8537D31651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7D5EE0D-93D4-4FD1-9CB3-712A79D4CE72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E86F5B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9FEAD60-118A-48EA-8AB6-841BE594FDFF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382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Tabla de metricas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D39C4A5-C3CF-46CE-BA38-D301D623FA61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Resumen editable de desempeno para los casos teorico y simulados.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00AE18F-5E7C-4E47-8580-D5CC42E5D1B0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4572000" cy="495300"/>
          </a:xfrm>
          <a:prstGeom prst="rect">
            <a:avLst/>
          </a:prstGeom>
          <a:solidFill>
            <a:srgbClr val="EDE7D9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6D397C2-42BE-4AAF-8C66-3D20A6563AC3}"/>
              </a:ext>
            </a:extLst>
          </p:cNvPr>
          <p:cNvSpPr>
            <a:spLocks noGrp="1"/>
          </p:cNvSpPr>
          <p:nvPr/>
        </p:nvSpPr>
        <p:spPr>
          <a:xfrm>
            <a:off x="895350" y="2819400"/>
            <a:ext cx="4381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01214"/>
                </a:solidFill>
              </a:defRPr>
            </a:pPr>
            <a:r>
              <a:rPr sz="975" b="1">
                <a:solidFill>
                  <a:srgbClr val="101214"/>
                </a:solidFill>
              </a:rPr>
              <a:t>Caso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456B87C-890A-4EAB-9C3B-7D87C4826A12}"/>
              </a:ext>
            </a:extLst>
          </p:cNvPr>
          <p:cNvSpPr>
            <a:spLocks noGrp="1"/>
          </p:cNvSpPr>
          <p:nvPr/>
        </p:nvSpPr>
        <p:spPr>
          <a:xfrm>
            <a:off x="5372100" y="2724150"/>
            <a:ext cx="1504950" cy="495300"/>
          </a:xfrm>
          <a:prstGeom prst="rect">
            <a:avLst/>
          </a:prstGeom>
          <a:solidFill>
            <a:srgbClr val="EDE7D9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D23E572-C5A3-484C-8D4A-D212E1E29EB9}"/>
              </a:ext>
            </a:extLst>
          </p:cNvPr>
          <p:cNvSpPr>
            <a:spLocks noGrp="1"/>
          </p:cNvSpPr>
          <p:nvPr/>
        </p:nvSpPr>
        <p:spPr>
          <a:xfrm>
            <a:off x="5467350" y="28194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01214"/>
                </a:solidFill>
              </a:defRPr>
            </a:pPr>
            <a:r>
              <a:rPr sz="975" b="1">
                <a:solidFill>
                  <a:srgbClr val="101214"/>
                </a:solidFill>
              </a:rPr>
              <a:t>t_r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CAA9DB-26A6-4D6F-8E78-573AE6068C36}"/>
              </a:ext>
            </a:extLst>
          </p:cNvPr>
          <p:cNvSpPr>
            <a:spLocks noGrp="1"/>
          </p:cNvSpPr>
          <p:nvPr/>
        </p:nvSpPr>
        <p:spPr>
          <a:xfrm>
            <a:off x="6877050" y="2724150"/>
            <a:ext cx="1504950" cy="495300"/>
          </a:xfrm>
          <a:prstGeom prst="rect">
            <a:avLst/>
          </a:prstGeom>
          <a:solidFill>
            <a:srgbClr val="EDE7D9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F984243-625D-4835-9747-1C912CA47014}"/>
              </a:ext>
            </a:extLst>
          </p:cNvPr>
          <p:cNvSpPr>
            <a:spLocks noGrp="1"/>
          </p:cNvSpPr>
          <p:nvPr/>
        </p:nvSpPr>
        <p:spPr>
          <a:xfrm>
            <a:off x="6972300" y="28194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01214"/>
                </a:solidFill>
              </a:defRPr>
            </a:pPr>
            <a:r>
              <a:rPr sz="975" b="1">
                <a:solidFill>
                  <a:srgbClr val="101214"/>
                </a:solidFill>
              </a:rPr>
              <a:t>t_s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C7B22F4-13A8-4A85-BFCC-2B15E36FCD1E}"/>
              </a:ext>
            </a:extLst>
          </p:cNvPr>
          <p:cNvSpPr>
            <a:spLocks noGrp="1"/>
          </p:cNvSpPr>
          <p:nvPr/>
        </p:nvSpPr>
        <p:spPr>
          <a:xfrm>
            <a:off x="8382000" y="2724150"/>
            <a:ext cx="1504950" cy="495300"/>
          </a:xfrm>
          <a:prstGeom prst="rect">
            <a:avLst/>
          </a:prstGeom>
          <a:solidFill>
            <a:srgbClr val="EDE7D9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DB4835F-A19D-465B-8ECF-D0A6BDC0B65F}"/>
              </a:ext>
            </a:extLst>
          </p:cNvPr>
          <p:cNvSpPr>
            <a:spLocks noGrp="1"/>
          </p:cNvSpPr>
          <p:nvPr/>
        </p:nvSpPr>
        <p:spPr>
          <a:xfrm>
            <a:off x="8477250" y="28194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01214"/>
                </a:solidFill>
              </a:defRPr>
            </a:pPr>
            <a:r>
              <a:rPr sz="975" b="1">
                <a:solidFill>
                  <a:srgbClr val="101214"/>
                </a:solidFill>
              </a:rPr>
              <a:t>M_p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32CDCBC-C555-44BC-BEDD-20D16390982A}"/>
              </a:ext>
            </a:extLst>
          </p:cNvPr>
          <p:cNvSpPr>
            <a:spLocks noGrp="1"/>
          </p:cNvSpPr>
          <p:nvPr/>
        </p:nvSpPr>
        <p:spPr>
          <a:xfrm>
            <a:off x="9886950" y="2724150"/>
            <a:ext cx="1504950" cy="495300"/>
          </a:xfrm>
          <a:prstGeom prst="rect">
            <a:avLst/>
          </a:prstGeom>
          <a:solidFill>
            <a:srgbClr val="EDE7D9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EAC29B3-A8FD-437B-A466-39AC754CE76B}"/>
              </a:ext>
            </a:extLst>
          </p:cNvPr>
          <p:cNvSpPr>
            <a:spLocks noGrp="1"/>
          </p:cNvSpPr>
          <p:nvPr/>
        </p:nvSpPr>
        <p:spPr>
          <a:xfrm>
            <a:off x="9982200" y="28194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01214"/>
                </a:solidFill>
              </a:defRPr>
            </a:pPr>
            <a:r>
              <a:rPr sz="975" b="1">
                <a:solidFill>
                  <a:srgbClr val="101214"/>
                </a:solidFill>
              </a:rPr>
              <a:t>e_ss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FA7B1E2-7F2C-4722-B8DE-E977D6A10670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4572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8CE1F41-F823-4A74-803E-4AF5D6EA05F8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4381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Lazo abierto teorico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3257E83-FB16-40AA-82B7-C6CC961B24AF}"/>
              </a:ext>
            </a:extLst>
          </p:cNvPr>
          <p:cNvSpPr>
            <a:spLocks noGrp="1"/>
          </p:cNvSpPr>
          <p:nvPr/>
        </p:nvSpPr>
        <p:spPr>
          <a:xfrm>
            <a:off x="5372100" y="3219450"/>
            <a:ext cx="1504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25F7138-0328-4112-9B4F-C53CFEE0C93D}"/>
              </a:ext>
            </a:extLst>
          </p:cNvPr>
          <p:cNvSpPr>
            <a:spLocks noGrp="1"/>
          </p:cNvSpPr>
          <p:nvPr/>
        </p:nvSpPr>
        <p:spPr>
          <a:xfrm>
            <a:off x="5467350" y="33147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0.19 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088F766-4738-49ED-A2EB-0E1578088A05}"/>
              </a:ext>
            </a:extLst>
          </p:cNvPr>
          <p:cNvSpPr>
            <a:spLocks noGrp="1"/>
          </p:cNvSpPr>
          <p:nvPr/>
        </p:nvSpPr>
        <p:spPr>
          <a:xfrm>
            <a:off x="6877050" y="3219450"/>
            <a:ext cx="1504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04EA7A2-1A15-495E-A142-D30792C5B410}"/>
              </a:ext>
            </a:extLst>
          </p:cNvPr>
          <p:cNvSpPr>
            <a:spLocks noGrp="1"/>
          </p:cNvSpPr>
          <p:nvPr/>
        </p:nvSpPr>
        <p:spPr>
          <a:xfrm>
            <a:off x="6972300" y="33147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1.60 s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299A42B-421B-4BF7-855B-4ABAA14329D9}"/>
              </a:ext>
            </a:extLst>
          </p:cNvPr>
          <p:cNvSpPr>
            <a:spLocks noGrp="1"/>
          </p:cNvSpPr>
          <p:nvPr/>
        </p:nvSpPr>
        <p:spPr>
          <a:xfrm>
            <a:off x="8382000" y="3219450"/>
            <a:ext cx="1504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5881DB3-359F-4F46-BB93-5F7A3EDDEF1A}"/>
              </a:ext>
            </a:extLst>
          </p:cNvPr>
          <p:cNvSpPr>
            <a:spLocks noGrp="1"/>
          </p:cNvSpPr>
          <p:nvPr/>
        </p:nvSpPr>
        <p:spPr>
          <a:xfrm>
            <a:off x="8477250" y="33147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44 %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85A4F74-2D6B-4071-B92D-B7D165F7CE94}"/>
              </a:ext>
            </a:extLst>
          </p:cNvPr>
          <p:cNvSpPr>
            <a:spLocks noGrp="1"/>
          </p:cNvSpPr>
          <p:nvPr/>
        </p:nvSpPr>
        <p:spPr>
          <a:xfrm>
            <a:off x="9886950" y="3219450"/>
            <a:ext cx="1504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28DF7A6-F6F0-40FD-8DC8-E50F70060A7A}"/>
              </a:ext>
            </a:extLst>
          </p:cNvPr>
          <p:cNvSpPr>
            <a:spLocks noGrp="1"/>
          </p:cNvSpPr>
          <p:nvPr/>
        </p:nvSpPr>
        <p:spPr>
          <a:xfrm>
            <a:off x="9982200" y="33147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0.99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B68D5DD7-D104-4D7D-A459-3F7681ECF86F}"/>
              </a:ext>
            </a:extLst>
          </p:cNvPr>
          <p:cNvSpPr>
            <a:spLocks noGrp="1"/>
          </p:cNvSpPr>
          <p:nvPr/>
        </p:nvSpPr>
        <p:spPr>
          <a:xfrm>
            <a:off x="800100" y="3714750"/>
            <a:ext cx="4572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68EE41A-DF9E-4A93-9E14-429AE7EC8A86}"/>
              </a:ext>
            </a:extLst>
          </p:cNvPr>
          <p:cNvSpPr>
            <a:spLocks noGrp="1"/>
          </p:cNvSpPr>
          <p:nvPr/>
        </p:nvSpPr>
        <p:spPr>
          <a:xfrm>
            <a:off x="895350" y="3810000"/>
            <a:ext cx="4381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Lazo abierto Simscape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4D66C58-C5C3-4619-BB9F-D9FB0F3EA91D}"/>
              </a:ext>
            </a:extLst>
          </p:cNvPr>
          <p:cNvSpPr>
            <a:spLocks noGrp="1"/>
          </p:cNvSpPr>
          <p:nvPr/>
        </p:nvSpPr>
        <p:spPr>
          <a:xfrm>
            <a:off x="5372100" y="3714750"/>
            <a:ext cx="1504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5B8ECCB-D6DF-4CD7-8CDC-430E9E54FC50}"/>
              </a:ext>
            </a:extLst>
          </p:cNvPr>
          <p:cNvSpPr>
            <a:spLocks noGrp="1"/>
          </p:cNvSpPr>
          <p:nvPr/>
        </p:nvSpPr>
        <p:spPr>
          <a:xfrm>
            <a:off x="5467350" y="38100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0.20-0.25 s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EA9E4EAB-9828-4C31-83D9-FCFF499296C1}"/>
              </a:ext>
            </a:extLst>
          </p:cNvPr>
          <p:cNvSpPr>
            <a:spLocks noGrp="1"/>
          </p:cNvSpPr>
          <p:nvPr/>
        </p:nvSpPr>
        <p:spPr>
          <a:xfrm>
            <a:off x="6877050" y="3714750"/>
            <a:ext cx="1504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C3BA22A8-86F1-4775-82B9-AF86C60F4245}"/>
              </a:ext>
            </a:extLst>
          </p:cNvPr>
          <p:cNvSpPr>
            <a:spLocks noGrp="1"/>
          </p:cNvSpPr>
          <p:nvPr/>
        </p:nvSpPr>
        <p:spPr>
          <a:xfrm>
            <a:off x="6972300" y="38100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1.7-2.0 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986A046-8994-4A55-A185-F955A2BE0DE2}"/>
              </a:ext>
            </a:extLst>
          </p:cNvPr>
          <p:cNvSpPr>
            <a:spLocks noGrp="1"/>
          </p:cNvSpPr>
          <p:nvPr/>
        </p:nvSpPr>
        <p:spPr>
          <a:xfrm>
            <a:off x="8382000" y="3714750"/>
            <a:ext cx="1504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5205A6EB-F2B4-46B2-9DF2-F8B7E2214402}"/>
              </a:ext>
            </a:extLst>
          </p:cNvPr>
          <p:cNvSpPr>
            <a:spLocks noGrp="1"/>
          </p:cNvSpPr>
          <p:nvPr/>
        </p:nvSpPr>
        <p:spPr>
          <a:xfrm>
            <a:off x="8477250" y="38100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40-45 %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1184CBB3-FC3B-4BC1-AD57-A69D96CD0426}"/>
              </a:ext>
            </a:extLst>
          </p:cNvPr>
          <p:cNvSpPr>
            <a:spLocks noGrp="1"/>
          </p:cNvSpPr>
          <p:nvPr/>
        </p:nvSpPr>
        <p:spPr>
          <a:xfrm>
            <a:off x="9886950" y="3714750"/>
            <a:ext cx="1504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647756EB-B2BC-4B06-964B-C3900D797B8C}"/>
              </a:ext>
            </a:extLst>
          </p:cNvPr>
          <p:cNvSpPr>
            <a:spLocks noGrp="1"/>
          </p:cNvSpPr>
          <p:nvPr/>
        </p:nvSpPr>
        <p:spPr>
          <a:xfrm>
            <a:off x="9982200" y="38100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0.98-0.99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F42A6A4F-47FB-45E2-A87B-4655F6CAB16C}"/>
              </a:ext>
            </a:extLst>
          </p:cNvPr>
          <p:cNvSpPr>
            <a:spLocks noGrp="1"/>
          </p:cNvSpPr>
          <p:nvPr/>
        </p:nvSpPr>
        <p:spPr>
          <a:xfrm>
            <a:off x="800100" y="4210050"/>
            <a:ext cx="4572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136A0252-8DE7-4C6C-B90B-765F69607D33}"/>
              </a:ext>
            </a:extLst>
          </p:cNvPr>
          <p:cNvSpPr>
            <a:spLocks noGrp="1"/>
          </p:cNvSpPr>
          <p:nvPr/>
        </p:nvSpPr>
        <p:spPr>
          <a:xfrm>
            <a:off x="895350" y="4305300"/>
            <a:ext cx="4381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Lazo cerrado Simscape, regulacion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FF31022A-FEA6-4F8C-B5FF-4BF898E1A9C6}"/>
              </a:ext>
            </a:extLst>
          </p:cNvPr>
          <p:cNvSpPr>
            <a:spLocks noGrp="1"/>
          </p:cNvSpPr>
          <p:nvPr/>
        </p:nvSpPr>
        <p:spPr>
          <a:xfrm>
            <a:off x="5372100" y="4210050"/>
            <a:ext cx="1504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D809DE15-BC1F-4676-89F5-494E73468C3E}"/>
              </a:ext>
            </a:extLst>
          </p:cNvPr>
          <p:cNvSpPr>
            <a:spLocks noGrp="1"/>
          </p:cNvSpPr>
          <p:nvPr/>
        </p:nvSpPr>
        <p:spPr>
          <a:xfrm>
            <a:off x="5467350" y="43053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0.05-0.10 s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7CD7A9BA-F890-4EEE-B307-340550C16E09}"/>
              </a:ext>
            </a:extLst>
          </p:cNvPr>
          <p:cNvSpPr>
            <a:spLocks noGrp="1"/>
          </p:cNvSpPr>
          <p:nvPr/>
        </p:nvSpPr>
        <p:spPr>
          <a:xfrm>
            <a:off x="6877050" y="4210050"/>
            <a:ext cx="1504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E8D449D2-54CC-40CA-B386-198BE14B4E41}"/>
              </a:ext>
            </a:extLst>
          </p:cNvPr>
          <p:cNvSpPr>
            <a:spLocks noGrp="1"/>
          </p:cNvSpPr>
          <p:nvPr/>
        </p:nvSpPr>
        <p:spPr>
          <a:xfrm>
            <a:off x="6972300" y="43053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1.0-1.5 s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7C7BDE45-A871-40CF-B593-A0FC088E610F}"/>
              </a:ext>
            </a:extLst>
          </p:cNvPr>
          <p:cNvSpPr>
            <a:spLocks noGrp="1"/>
          </p:cNvSpPr>
          <p:nvPr/>
        </p:nvSpPr>
        <p:spPr>
          <a:xfrm>
            <a:off x="8382000" y="4210050"/>
            <a:ext cx="1504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1029E853-213B-4266-B748-2D401722F6B9}"/>
              </a:ext>
            </a:extLst>
          </p:cNvPr>
          <p:cNvSpPr>
            <a:spLocks noGrp="1"/>
          </p:cNvSpPr>
          <p:nvPr/>
        </p:nvSpPr>
        <p:spPr>
          <a:xfrm>
            <a:off x="8477250" y="43053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0.145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BC31DB9C-3EAE-4C78-A722-6CB95A88D21A}"/>
              </a:ext>
            </a:extLst>
          </p:cNvPr>
          <p:cNvSpPr>
            <a:spLocks noGrp="1"/>
          </p:cNvSpPr>
          <p:nvPr/>
        </p:nvSpPr>
        <p:spPr>
          <a:xfrm>
            <a:off x="9886950" y="4210050"/>
            <a:ext cx="1504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EA404675-280A-43B9-8201-BAC471DD5C5A}"/>
              </a:ext>
            </a:extLst>
          </p:cNvPr>
          <p:cNvSpPr>
            <a:spLocks noGrp="1"/>
          </p:cNvSpPr>
          <p:nvPr/>
        </p:nvSpPr>
        <p:spPr>
          <a:xfrm>
            <a:off x="9982200" y="43053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aprox. 0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C3E0F8F3-F7D0-4E02-A8C8-D745F4E056FB}"/>
              </a:ext>
            </a:extLst>
          </p:cNvPr>
          <p:cNvSpPr>
            <a:spLocks noGrp="1"/>
          </p:cNvSpPr>
          <p:nvPr/>
        </p:nvSpPr>
        <p:spPr>
          <a:xfrm>
            <a:off x="800100" y="4705350"/>
            <a:ext cx="4572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A5361F59-E78F-44B7-8B36-DB2E7EC03ABF}"/>
              </a:ext>
            </a:extLst>
          </p:cNvPr>
          <p:cNvSpPr>
            <a:spLocks noGrp="1"/>
          </p:cNvSpPr>
          <p:nvPr/>
        </p:nvSpPr>
        <p:spPr>
          <a:xfrm>
            <a:off x="895350" y="4800600"/>
            <a:ext cx="4381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Lazo cerrado Simscape, seguimiento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750279A4-B22C-4D61-9FFE-107A63EFB485}"/>
              </a:ext>
            </a:extLst>
          </p:cNvPr>
          <p:cNvSpPr>
            <a:spLocks noGrp="1"/>
          </p:cNvSpPr>
          <p:nvPr/>
        </p:nvSpPr>
        <p:spPr>
          <a:xfrm>
            <a:off x="5372100" y="4705350"/>
            <a:ext cx="1504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E07BFBCC-8EA9-43C4-8737-AFE402EA7F3B}"/>
              </a:ext>
            </a:extLst>
          </p:cNvPr>
          <p:cNvSpPr>
            <a:spLocks noGrp="1"/>
          </p:cNvSpPr>
          <p:nvPr/>
        </p:nvSpPr>
        <p:spPr>
          <a:xfrm>
            <a:off x="5467350" y="48006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20-25 s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DC3C4D98-7BF4-4E18-998A-9B2A1EF2F47A}"/>
              </a:ext>
            </a:extLst>
          </p:cNvPr>
          <p:cNvSpPr>
            <a:spLocks noGrp="1"/>
          </p:cNvSpPr>
          <p:nvPr/>
        </p:nvSpPr>
        <p:spPr>
          <a:xfrm>
            <a:off x="6877050" y="4705350"/>
            <a:ext cx="1504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2EDFD15B-ECEB-4F53-B703-1E87471725A7}"/>
              </a:ext>
            </a:extLst>
          </p:cNvPr>
          <p:cNvSpPr>
            <a:spLocks noGrp="1"/>
          </p:cNvSpPr>
          <p:nvPr/>
        </p:nvSpPr>
        <p:spPr>
          <a:xfrm>
            <a:off x="6972300" y="48006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&gt; 60 s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4E0F4ABE-57ED-4A3D-9002-8E509DAFF439}"/>
              </a:ext>
            </a:extLst>
          </p:cNvPr>
          <p:cNvSpPr>
            <a:spLocks noGrp="1"/>
          </p:cNvSpPr>
          <p:nvPr/>
        </p:nvSpPr>
        <p:spPr>
          <a:xfrm>
            <a:off x="8382000" y="4705350"/>
            <a:ext cx="1504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F8AEF302-7246-40C0-BEB2-0A44ED201654}"/>
              </a:ext>
            </a:extLst>
          </p:cNvPr>
          <p:cNvSpPr>
            <a:spLocks noGrp="1"/>
          </p:cNvSpPr>
          <p:nvPr/>
        </p:nvSpPr>
        <p:spPr>
          <a:xfrm>
            <a:off x="8477250" y="48006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0 %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BF9AF9A6-9923-4D17-8F38-9CE89F8FD59C}"/>
              </a:ext>
            </a:extLst>
          </p:cNvPr>
          <p:cNvSpPr>
            <a:spLocks noGrp="1"/>
          </p:cNvSpPr>
          <p:nvPr/>
        </p:nvSpPr>
        <p:spPr>
          <a:xfrm>
            <a:off x="9886950" y="4705350"/>
            <a:ext cx="1504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732B46B6-1542-4B64-8262-6106F4149D03}"/>
              </a:ext>
            </a:extLst>
          </p:cNvPr>
          <p:cNvSpPr>
            <a:spLocks noGrp="1"/>
          </p:cNvSpPr>
          <p:nvPr/>
        </p:nvSpPr>
        <p:spPr>
          <a:xfrm>
            <a:off x="9982200" y="4800600"/>
            <a:ext cx="1314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101214"/>
                </a:solidFill>
              </a:defRPr>
            </a:pPr>
            <a:r>
              <a:rPr sz="975" b="0">
                <a:solidFill>
                  <a:srgbClr val="101214"/>
                </a:solidFill>
              </a:rPr>
              <a:t>0.09-0.10</a:t>
            </a:r>
          </a:p>
        </p:txBody>
      </p:sp>
      <p:sp>
        <p:nvSpPr>
          <p:cNvPr id="60" name="Rectángulo redondeado 59">
            <a:extLst>
              <a:ext uri="{FF2B5EF4-FFF2-40B4-BE49-F238E27FC236}">
                <a16:creationId xmlns:a16="http://schemas.microsoft.com/office/drawing/2014/main" id="{289B6499-86BD-4A1A-8EFE-D99FF14E7A2B}"/>
              </a:ext>
            </a:extLst>
          </p:cNvPr>
          <p:cNvSpPr>
            <a:spLocks noGrp="1"/>
          </p:cNvSpPr>
          <p:nvPr/>
        </p:nvSpPr>
        <p:spPr>
          <a:xfrm>
            <a:off x="800100" y="5581650"/>
            <a:ext cx="10591800" cy="685800"/>
          </a:xfrm>
          <a:prstGeom prst="roundRect">
            <a:avLst>
              <a:gd name="adj" fmla="val 11111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080C463A-A45D-42A0-AF83-571D3145E49F}"/>
              </a:ext>
            </a:extLst>
          </p:cNvPr>
          <p:cNvSpPr>
            <a:spLocks noGrp="1"/>
          </p:cNvSpPr>
          <p:nvPr/>
        </p:nvSpPr>
        <p:spPr>
          <a:xfrm>
            <a:off x="800100" y="5581650"/>
            <a:ext cx="76200" cy="685800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2BE657F0-8D91-4239-9B70-2A20A0953FFE}"/>
              </a:ext>
            </a:extLst>
          </p:cNvPr>
          <p:cNvSpPr>
            <a:spLocks noGrp="1"/>
          </p:cNvSpPr>
          <p:nvPr/>
        </p:nvSpPr>
        <p:spPr>
          <a:xfrm>
            <a:off x="1028700" y="5676900"/>
            <a:ext cx="228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6B49"/>
                </a:solidFill>
              </a:defRPr>
            </a:pPr>
            <a:r>
              <a:rPr sz="900" b="1">
                <a:solidFill>
                  <a:srgbClr val="116B49"/>
                </a:solidFill>
              </a:rPr>
              <a:t>Observacion metodologica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67D2B3E1-7CF7-4A4C-B121-9FAD79BDC7CA}"/>
              </a:ext>
            </a:extLst>
          </p:cNvPr>
          <p:cNvSpPr>
            <a:spLocks noGrp="1"/>
          </p:cNvSpPr>
          <p:nvPr/>
        </p:nvSpPr>
        <p:spPr>
          <a:xfrm>
            <a:off x="3181350" y="5676900"/>
            <a:ext cx="7981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101214"/>
                </a:solidFill>
              </a:defRPr>
            </a:pPr>
            <a:r>
              <a:rPr lang="es-ES_tradnl" sz="900" b="0" dirty="0">
                <a:solidFill>
                  <a:srgbClr val="101214"/>
                </a:solidFill>
              </a:rPr>
              <a:t>En regulación, las métricas clásicas son menos naturales; también conviene reportar desviación máxima, tiempo de recuperación y vibración residual</a:t>
            </a:r>
            <a:r>
              <a:rPr sz="900" b="0" dirty="0">
                <a:solidFill>
                  <a:srgbClr val="101214"/>
                </a:solidFill>
              </a:rPr>
              <a:t>.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75B6CF84-12A1-4038-BBC8-888193710EF0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N. Quijano, Estabilidad en LTI, notas de clase. · Desarrollo propio del grupo a partir del modelado fisico del sistema.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CFA5539D-C0B9-46BF-8DCE-4F7400609C32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0F61DAB4-81C2-495E-B38A-4870224BA24E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</p:spTree>
    <p:extLst>
      <p:ext uri="{BB962C8B-B14F-4D97-AF65-F5344CB8AC3E}">
        <p14:creationId xmlns:p14="http://schemas.microsoft.com/office/powerpoint/2010/main" val="1131790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5">
            <a:extLst>
              <a:ext uri="{FF2B5EF4-FFF2-40B4-BE49-F238E27FC236}">
                <a16:creationId xmlns:a16="http://schemas.microsoft.com/office/drawing/2014/main" id="{F3F756B2-143B-4DF5-96FF-66A72223A1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4C18173-B310-4309-BBBD-7F26D2D5B4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607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A6C8EBE-A998-4928-8F9C-450A3D45746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86F5B"/>
                </a:solidFill>
              </a:defRPr>
            </a:pPr>
            <a:r>
              <a:rPr sz="975" b="1">
                <a:solidFill>
                  <a:srgbClr val="E86F5B"/>
                </a:solidFill>
              </a:rPr>
              <a:t>RESPALDO 02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720183BB-BE30-4DD7-887D-7D3A518C7721}"/>
              </a:ext>
            </a:extLst>
          </p:cNvPr>
          <p:cNvSpPr>
            <a:spLocks noGrp="1"/>
          </p:cNvSpPr>
          <p:nvPr/>
        </p:nvSpPr>
        <p:spPr>
          <a:xfrm>
            <a:off x="8782050" y="285750"/>
            <a:ext cx="1371600" cy="247650"/>
          </a:xfrm>
          <a:prstGeom prst="roundRect">
            <a:avLst>
              <a:gd name="adj" fmla="val 30769"/>
            </a:avLst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FE76CB-8772-478E-A0CE-610103A2DFB0}"/>
              </a:ext>
            </a:extLst>
          </p:cNvPr>
          <p:cNvSpPr>
            <a:spLocks noGrp="1"/>
          </p:cNvSpPr>
          <p:nvPr/>
        </p:nvSpPr>
        <p:spPr>
          <a:xfrm>
            <a:off x="8896350" y="333375"/>
            <a:ext cx="114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RESPALDO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CBF0662-1719-4DA7-B8B9-5C270D171817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E86F5B"/>
                </a:solidFill>
              </a:defRPr>
            </a:pPr>
            <a:r>
              <a:rPr sz="975" b="1">
                <a:solidFill>
                  <a:srgbClr val="E86F5B"/>
                </a:solidFill>
              </a:rPr>
              <a:t>16 / 19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41F7618-0F37-4F7F-AB11-7EF64487B4BC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008C1DC-522E-4712-B5C0-C0795FB1DABC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E86F5B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B35A0E3-6EF0-4BBA-8F30-A71ED4E33110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572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Conclusiones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336C0CC-A51A-4F9E-B532-71E4E6ECE619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Resumen corto para cierre oral o respaldo tecnico de la sustentacion.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24B285C9-25B4-4F22-9C8D-C1CFCA636E36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5181600" cy="1638300"/>
          </a:xfrm>
          <a:prstGeom prst="roundRect">
            <a:avLst>
              <a:gd name="adj" fmla="val 4651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D6272DC-B14C-4AF5-8E3C-32D70967DEF0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76200" cy="1638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42CD9F11-B53F-411B-BDEE-CCAFF074BF5D}"/>
              </a:ext>
            </a:extLst>
          </p:cNvPr>
          <p:cNvSpPr>
            <a:spLocks noGrp="1"/>
          </p:cNvSpPr>
          <p:nvPr/>
        </p:nvSpPr>
        <p:spPr>
          <a:xfrm>
            <a:off x="1009650" y="29527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2630C1E-88AF-46FC-BC44-D964744B4CF6}"/>
              </a:ext>
            </a:extLst>
          </p:cNvPr>
          <p:cNvSpPr>
            <a:spLocks noGrp="1"/>
          </p:cNvSpPr>
          <p:nvPr/>
        </p:nvSpPr>
        <p:spPr>
          <a:xfrm>
            <a:off x="1162050" y="32289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07393B7-9840-478A-9433-8B660F09EF11}"/>
              </a:ext>
            </a:extLst>
          </p:cNvPr>
          <p:cNvSpPr>
            <a:spLocks noGrp="1"/>
          </p:cNvSpPr>
          <p:nvPr/>
        </p:nvSpPr>
        <p:spPr>
          <a:xfrm>
            <a:off x="1247775" y="31527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274E8FF-20E2-46BB-A941-9D5EE49676E7}"/>
              </a:ext>
            </a:extLst>
          </p:cNvPr>
          <p:cNvSpPr>
            <a:spLocks noGrp="1"/>
          </p:cNvSpPr>
          <p:nvPr/>
        </p:nvSpPr>
        <p:spPr>
          <a:xfrm>
            <a:off x="1333500" y="30861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DB2E780-9741-45AB-AECB-7F36955F117A}"/>
              </a:ext>
            </a:extLst>
          </p:cNvPr>
          <p:cNvSpPr>
            <a:spLocks noGrp="1"/>
          </p:cNvSpPr>
          <p:nvPr/>
        </p:nvSpPr>
        <p:spPr>
          <a:xfrm>
            <a:off x="1638300" y="2933700"/>
            <a:ext cx="4152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Conclusion 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150CCC6-2B2E-4A4C-BBB7-01D156A57E14}"/>
              </a:ext>
            </a:extLst>
          </p:cNvPr>
          <p:cNvSpPr>
            <a:spLocks noGrp="1"/>
          </p:cNvSpPr>
          <p:nvPr/>
        </p:nvSpPr>
        <p:spPr>
          <a:xfrm>
            <a:off x="1028700" y="3543300"/>
            <a:ext cx="47244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El problema real del proyecto es rechazo de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perturbaciones sobre la plataforma del sensor, no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seguimiento libre de referencia.</a:t>
            </a: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AB9D7143-3017-48E5-8838-D99481769C2B}"/>
              </a:ext>
            </a:extLst>
          </p:cNvPr>
          <p:cNvSpPr>
            <a:spLocks noGrp="1"/>
          </p:cNvSpPr>
          <p:nvPr/>
        </p:nvSpPr>
        <p:spPr>
          <a:xfrm>
            <a:off x="6210300" y="2724150"/>
            <a:ext cx="5181600" cy="1638300"/>
          </a:xfrm>
          <a:prstGeom prst="roundRect">
            <a:avLst>
              <a:gd name="adj" fmla="val 4651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903F395-C2C4-4171-B44F-B4C46F624970}"/>
              </a:ext>
            </a:extLst>
          </p:cNvPr>
          <p:cNvSpPr>
            <a:spLocks noGrp="1"/>
          </p:cNvSpPr>
          <p:nvPr/>
        </p:nvSpPr>
        <p:spPr>
          <a:xfrm>
            <a:off x="6210300" y="2724150"/>
            <a:ext cx="76200" cy="1638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BCFED3C6-1326-495D-97AC-C2331AA2B346}"/>
              </a:ext>
            </a:extLst>
          </p:cNvPr>
          <p:cNvSpPr>
            <a:spLocks noGrp="1"/>
          </p:cNvSpPr>
          <p:nvPr/>
        </p:nvSpPr>
        <p:spPr>
          <a:xfrm>
            <a:off x="6419850" y="29527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7FD98DB3-5938-4AA7-9BC8-D15FF85BB93E}"/>
              </a:ext>
            </a:extLst>
          </p:cNvPr>
          <p:cNvSpPr>
            <a:spLocks noGrp="1"/>
          </p:cNvSpPr>
          <p:nvPr/>
        </p:nvSpPr>
        <p:spPr>
          <a:xfrm>
            <a:off x="6543675" y="31242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008E5D1F-E880-4132-9836-56D87C76E146}"/>
              </a:ext>
            </a:extLst>
          </p:cNvPr>
          <p:cNvSpPr>
            <a:spLocks noGrp="1"/>
          </p:cNvSpPr>
          <p:nvPr/>
        </p:nvSpPr>
        <p:spPr>
          <a:xfrm>
            <a:off x="6715125" y="32099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6F27E81-A0F5-41E4-933D-600FEB20C14B}"/>
              </a:ext>
            </a:extLst>
          </p:cNvPr>
          <p:cNvSpPr>
            <a:spLocks noGrp="1"/>
          </p:cNvSpPr>
          <p:nvPr/>
        </p:nvSpPr>
        <p:spPr>
          <a:xfrm>
            <a:off x="6629400" y="31908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234A2E3-D2B6-4FE6-9866-D4F990C0A11B}"/>
              </a:ext>
            </a:extLst>
          </p:cNvPr>
          <p:cNvSpPr>
            <a:spLocks noGrp="1"/>
          </p:cNvSpPr>
          <p:nvPr/>
        </p:nvSpPr>
        <p:spPr>
          <a:xfrm>
            <a:off x="7048500" y="2933700"/>
            <a:ext cx="4152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Conclusion 2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6C8DA5A-9D03-4D54-8730-E39360718504}"/>
              </a:ext>
            </a:extLst>
          </p:cNvPr>
          <p:cNvSpPr>
            <a:spLocks noGrp="1"/>
          </p:cNvSpPr>
          <p:nvPr/>
        </p:nvSpPr>
        <p:spPr>
          <a:xfrm>
            <a:off x="6438900" y="3543300"/>
            <a:ext cx="47244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La planta nominal es de tercer orden porque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combina una dinámica mecánica de segundo orden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con una dinámica eléctrica de primer orden.</a:t>
            </a:r>
          </a:p>
        </p:txBody>
      </p:sp>
      <p:sp>
        <p:nvSpPr>
          <p:cNvPr id="28" name="Rectángulo redondeado 27">
            <a:extLst>
              <a:ext uri="{FF2B5EF4-FFF2-40B4-BE49-F238E27FC236}">
                <a16:creationId xmlns:a16="http://schemas.microsoft.com/office/drawing/2014/main" id="{2B7BD2D9-2423-4451-B44F-9614F5DB3987}"/>
              </a:ext>
            </a:extLst>
          </p:cNvPr>
          <p:cNvSpPr>
            <a:spLocks noGrp="1"/>
          </p:cNvSpPr>
          <p:nvPr/>
        </p:nvSpPr>
        <p:spPr>
          <a:xfrm>
            <a:off x="800100" y="4533900"/>
            <a:ext cx="5181600" cy="1638300"/>
          </a:xfrm>
          <a:prstGeom prst="roundRect">
            <a:avLst>
              <a:gd name="adj" fmla="val 4651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8E61DA9-0AF0-4E65-95BF-44C55B31EA02}"/>
              </a:ext>
            </a:extLst>
          </p:cNvPr>
          <p:cNvSpPr>
            <a:spLocks noGrp="1"/>
          </p:cNvSpPr>
          <p:nvPr/>
        </p:nvSpPr>
        <p:spPr>
          <a:xfrm>
            <a:off x="800100" y="4533900"/>
            <a:ext cx="76200" cy="1638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226660CE-826D-405C-BF72-804274610AD3}"/>
              </a:ext>
            </a:extLst>
          </p:cNvPr>
          <p:cNvSpPr>
            <a:spLocks noGrp="1"/>
          </p:cNvSpPr>
          <p:nvPr/>
        </p:nvSpPr>
        <p:spPr>
          <a:xfrm>
            <a:off x="1009650" y="47625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92041A0E-6893-42FC-978E-9EDF0FCB5098}"/>
              </a:ext>
            </a:extLst>
          </p:cNvPr>
          <p:cNvSpPr>
            <a:spLocks noGrp="1"/>
          </p:cNvSpPr>
          <p:nvPr/>
        </p:nvSpPr>
        <p:spPr>
          <a:xfrm>
            <a:off x="1133475" y="49053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04A6DEBA-A749-4EFE-BB7C-94B70B330754}"/>
              </a:ext>
            </a:extLst>
          </p:cNvPr>
          <p:cNvSpPr>
            <a:spLocks noGrp="1"/>
          </p:cNvSpPr>
          <p:nvPr/>
        </p:nvSpPr>
        <p:spPr>
          <a:xfrm>
            <a:off x="1181100" y="49911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EBCB3B2A-8514-422F-BB4E-DC87C397759B}"/>
              </a:ext>
            </a:extLst>
          </p:cNvPr>
          <p:cNvSpPr>
            <a:spLocks noGrp="1"/>
          </p:cNvSpPr>
          <p:nvPr/>
        </p:nvSpPr>
        <p:spPr>
          <a:xfrm>
            <a:off x="1228725" y="50768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BD3D925-42EE-479D-9F1A-B509019B743B}"/>
              </a:ext>
            </a:extLst>
          </p:cNvPr>
          <p:cNvSpPr>
            <a:spLocks noGrp="1"/>
          </p:cNvSpPr>
          <p:nvPr/>
        </p:nvSpPr>
        <p:spPr>
          <a:xfrm>
            <a:off x="1638300" y="4743450"/>
            <a:ext cx="4152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Conclusion 3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B1CE0CFE-B35E-4D53-BF6D-67A76767C6B8}"/>
              </a:ext>
            </a:extLst>
          </p:cNvPr>
          <p:cNvSpPr>
            <a:spLocks noGrp="1"/>
          </p:cNvSpPr>
          <p:nvPr/>
        </p:nvSpPr>
        <p:spPr>
          <a:xfrm>
            <a:off x="1028700" y="5353050"/>
            <a:ext cx="47244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La reduccion a segundo orden fue util para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sintetizar el IMC-PID, pero la validacion final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 hace sobre la planta completa y Simscape.</a:t>
            </a:r>
          </a:p>
        </p:txBody>
      </p:sp>
      <p:sp>
        <p:nvSpPr>
          <p:cNvPr id="36" name="Rectángulo redondeado 35">
            <a:extLst>
              <a:ext uri="{FF2B5EF4-FFF2-40B4-BE49-F238E27FC236}">
                <a16:creationId xmlns:a16="http://schemas.microsoft.com/office/drawing/2014/main" id="{A1F065A8-909C-4AD3-B017-FF1A2C749DCF}"/>
              </a:ext>
            </a:extLst>
          </p:cNvPr>
          <p:cNvSpPr>
            <a:spLocks noGrp="1"/>
          </p:cNvSpPr>
          <p:nvPr/>
        </p:nvSpPr>
        <p:spPr>
          <a:xfrm>
            <a:off x="6210300" y="4533900"/>
            <a:ext cx="5181600" cy="1638300"/>
          </a:xfrm>
          <a:prstGeom prst="roundRect">
            <a:avLst>
              <a:gd name="adj" fmla="val 4651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98F3935-0F1D-4414-AD80-EA0CF014E796}"/>
              </a:ext>
            </a:extLst>
          </p:cNvPr>
          <p:cNvSpPr>
            <a:spLocks noGrp="1"/>
          </p:cNvSpPr>
          <p:nvPr/>
        </p:nvSpPr>
        <p:spPr>
          <a:xfrm>
            <a:off x="6210300" y="4533900"/>
            <a:ext cx="76200" cy="1638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B0C9832-BD04-4CAF-88FE-4023C878BE46}"/>
              </a:ext>
            </a:extLst>
          </p:cNvPr>
          <p:cNvSpPr>
            <a:spLocks noGrp="1"/>
          </p:cNvSpPr>
          <p:nvPr/>
        </p:nvSpPr>
        <p:spPr>
          <a:xfrm>
            <a:off x="6419850" y="47625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B8D8A9F1-D8AD-4A30-9924-449E03EBE497}"/>
              </a:ext>
            </a:extLst>
          </p:cNvPr>
          <p:cNvSpPr>
            <a:spLocks noGrp="1"/>
          </p:cNvSpPr>
          <p:nvPr/>
        </p:nvSpPr>
        <p:spPr>
          <a:xfrm>
            <a:off x="6572250" y="503872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019E6CE8-5D5A-42A0-9C0E-157DB253040F}"/>
              </a:ext>
            </a:extLst>
          </p:cNvPr>
          <p:cNvSpPr>
            <a:spLocks noGrp="1"/>
          </p:cNvSpPr>
          <p:nvPr/>
        </p:nvSpPr>
        <p:spPr>
          <a:xfrm>
            <a:off x="6657975" y="496252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D66F68E9-2BE4-4487-9B2C-264F7741910B}"/>
              </a:ext>
            </a:extLst>
          </p:cNvPr>
          <p:cNvSpPr>
            <a:spLocks noGrp="1"/>
          </p:cNvSpPr>
          <p:nvPr/>
        </p:nvSpPr>
        <p:spPr>
          <a:xfrm>
            <a:off x="6743700" y="489585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44372C9-6E49-4E74-9D0A-10E929A7525D}"/>
              </a:ext>
            </a:extLst>
          </p:cNvPr>
          <p:cNvSpPr>
            <a:spLocks noGrp="1"/>
          </p:cNvSpPr>
          <p:nvPr/>
        </p:nvSpPr>
        <p:spPr>
          <a:xfrm>
            <a:off x="7048500" y="4743450"/>
            <a:ext cx="4152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Conclusion 4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6BD0C7F-89F0-45B2-A46F-8CA15A93E1FD}"/>
              </a:ext>
            </a:extLst>
          </p:cNvPr>
          <p:cNvSpPr>
            <a:spLocks noGrp="1"/>
          </p:cNvSpPr>
          <p:nvPr/>
        </p:nvSpPr>
        <p:spPr>
          <a:xfrm>
            <a:off x="6438900" y="5353050"/>
            <a:ext cx="47244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El controlador tuvo mejor desempeño en regulación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con r(t)=0 que en seguimiento de posición, en</a:t>
            </a:r>
          </a:p>
          <a:p>
            <a:pPr algn="l">
              <a:defRPr sz="1275" b="0">
                <a:solidFill>
                  <a:srgbClr val="101214"/>
                </a:solidFill>
              </a:defRPr>
            </a:pPr>
            <a:r>
              <a:rPr lang="es-ES_tradnl" sz="1275" b="0" dirty="0">
                <a:solidFill>
                  <a:srgbClr val="101214"/>
                </a:solidFill>
              </a:rPr>
              <a:t>línea con la aplicación real.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31D48E0-276F-49B8-BAF0-69E8C8D6108F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Enunciado Actividad 2, Curso de Control, 2026. · N. Quijano, IMC y PID, notas de clase. · Desarrollo propio del grupo a partir del modelado fisico del sistema.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37D7273C-C010-4A28-A40D-CD2D2944C1E1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0D0F9368-C26C-44CB-BB77-82E1F3655B2C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</p:spTree>
    <p:extLst>
      <p:ext uri="{BB962C8B-B14F-4D97-AF65-F5344CB8AC3E}">
        <p14:creationId xmlns:p14="http://schemas.microsoft.com/office/powerpoint/2010/main" val="941718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F756B2-143B-4DF5-96FF-66A72223A1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AC8BDB9-F8DB-444C-A7B0-CFF2A25504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87E65EA-DD89-4B99-972A-04E0F0CE2C2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86F5B"/>
                </a:solidFill>
              </a:defRPr>
            </a:pPr>
            <a:r>
              <a:rPr sz="975" b="1">
                <a:solidFill>
                  <a:srgbClr val="E86F5B"/>
                </a:solidFill>
              </a:rPr>
              <a:t>RESPALDO 03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1179D7A9-1D6B-4424-B6BD-8D98623BAFA5}"/>
              </a:ext>
            </a:extLst>
          </p:cNvPr>
          <p:cNvSpPr>
            <a:spLocks noGrp="1"/>
          </p:cNvSpPr>
          <p:nvPr/>
        </p:nvSpPr>
        <p:spPr>
          <a:xfrm>
            <a:off x="8782050" y="285750"/>
            <a:ext cx="1371600" cy="247650"/>
          </a:xfrm>
          <a:prstGeom prst="roundRect">
            <a:avLst>
              <a:gd name="adj" fmla="val 30769"/>
            </a:avLst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DADAA7C-1DBD-4420-B4B9-3A2B31EA1F47}"/>
              </a:ext>
            </a:extLst>
          </p:cNvPr>
          <p:cNvSpPr>
            <a:spLocks noGrp="1"/>
          </p:cNvSpPr>
          <p:nvPr/>
        </p:nvSpPr>
        <p:spPr>
          <a:xfrm>
            <a:off x="8896350" y="333375"/>
            <a:ext cx="114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RESPALDO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9A3A650-F422-40CA-A635-799FC97666A3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E86F5B"/>
                </a:solidFill>
              </a:defRPr>
            </a:pPr>
            <a:r>
              <a:rPr sz="975" b="1">
                <a:solidFill>
                  <a:srgbClr val="E86F5B"/>
                </a:solidFill>
              </a:rPr>
              <a:t>17 / 19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268DA75-B1AA-4B0D-A807-9FD44ABC572A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6A9841D-AAE4-45AF-BA60-2B458D0601F5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E86F5B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4EFC505-D8A3-4DD5-B487-2F83B9AB7A65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191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Bono: visualizacion 3D del montaje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C9DCAC75-2B7E-4AE4-882F-B79053AD9D53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62865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C1C8367-4C63-49C4-BADB-246BED057039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6286500" cy="76200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F09ACAE-3236-4BC9-A292-224C62A4F5BB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5867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214"/>
                </a:solidFill>
              </a:defRPr>
            </a:pPr>
            <a:r>
              <a:rPr sz="1350" b="1">
                <a:solidFill>
                  <a:srgbClr val="101214"/>
                </a:solidFill>
              </a:rPr>
              <a:t>Visualizacion 3D / frame del bono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1FAAE7C9-85F3-4977-B324-F04A3F01F201}"/>
              </a:ext>
            </a:extLst>
          </p:cNvPr>
          <p:cNvSpPr>
            <a:spLocks noGrp="1"/>
          </p:cNvSpPr>
          <p:nvPr/>
        </p:nvSpPr>
        <p:spPr>
          <a:xfrm>
            <a:off x="7372350" y="2724150"/>
            <a:ext cx="40195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56C2DBA-6849-4B5C-9C9F-F8649B7C63A0}"/>
              </a:ext>
            </a:extLst>
          </p:cNvPr>
          <p:cNvSpPr>
            <a:spLocks noGrp="1"/>
          </p:cNvSpPr>
          <p:nvPr/>
        </p:nvSpPr>
        <p:spPr>
          <a:xfrm>
            <a:off x="7372350" y="2724150"/>
            <a:ext cx="76200" cy="3143250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E4CAC56-0E99-4F36-B1EC-2F6C25D4DE84}"/>
              </a:ext>
            </a:extLst>
          </p:cNvPr>
          <p:cNvSpPr>
            <a:spLocks noGrp="1"/>
          </p:cNvSpPr>
          <p:nvPr/>
        </p:nvSpPr>
        <p:spPr>
          <a:xfrm>
            <a:off x="7600950" y="2895600"/>
            <a:ext cx="3562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6B49"/>
                </a:solidFill>
              </a:defRPr>
            </a:pPr>
            <a:r>
              <a:rPr sz="1200" b="1">
                <a:solidFill>
                  <a:srgbClr val="116B49"/>
                </a:solidFill>
              </a:rPr>
              <a:t>Como usar el bono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8ACCDE2-AA35-4D28-B49E-BFAE1AC17023}"/>
              </a:ext>
            </a:extLst>
          </p:cNvPr>
          <p:cNvSpPr>
            <a:spLocks noGrp="1"/>
          </p:cNvSpPr>
          <p:nvPr/>
        </p:nvSpPr>
        <p:spPr>
          <a:xfrm>
            <a:off x="7600950" y="3276600"/>
            <a:ext cx="3562350" cy="2400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• El bono sirve como apoyo visual y no reemplaza el análisis dinámico.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• Puede usarse para mostrar la relación entre base, plataforma y actuador.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• También ayuda a explicar el montaje al profesor durante la sustentación.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749323D-48A7-4581-B2E2-86DC92DEFFE0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Enunciado Actividad 2, Curso de Control, 2026. · Desarrollo propio del grupo a partir del modelado fisico del sistema.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2A21E8E-30C6-4023-ADAC-8BD567A38FD1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46AF06-7439-4BC8-B7EA-6A89925B06E7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  <p:pic>
        <p:nvPicPr>
          <p:cNvPr id="11" name="Grabación de pantalla 2026-04-22 a las 11.21.02 a. m..mov">
            <a:hlinkClick r:id="" action="ppaction://media"/>
            <a:extLst>
              <a:ext uri="{FF2B5EF4-FFF2-40B4-BE49-F238E27FC236}">
                <a16:creationId xmlns:a16="http://schemas.microsoft.com/office/drawing/2014/main" id="{D350517E-53A1-C1CC-33D6-4B3004935D1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220317" y="3140413"/>
            <a:ext cx="2946669" cy="262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35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625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F3F756B2-143B-4DF5-96FF-66A72223A1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C69A9ECC-3415-4661-982F-CC7C212AE9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607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7407776-3FBC-427A-8E1F-9C6ECEC625A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86F5B"/>
                </a:solidFill>
              </a:defRPr>
            </a:pPr>
            <a:r>
              <a:rPr sz="975" b="1">
                <a:solidFill>
                  <a:srgbClr val="E86F5B"/>
                </a:solidFill>
              </a:rPr>
              <a:t>RESPALDO 04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0B590CEF-992C-4E5E-B7D1-200F3E45C2C4}"/>
              </a:ext>
            </a:extLst>
          </p:cNvPr>
          <p:cNvSpPr>
            <a:spLocks noGrp="1"/>
          </p:cNvSpPr>
          <p:nvPr/>
        </p:nvSpPr>
        <p:spPr>
          <a:xfrm>
            <a:off x="8782050" y="285750"/>
            <a:ext cx="1371600" cy="247650"/>
          </a:xfrm>
          <a:prstGeom prst="roundRect">
            <a:avLst>
              <a:gd name="adj" fmla="val 30769"/>
            </a:avLst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0F98689-D0C4-447E-8A93-9EEC93C83415}"/>
              </a:ext>
            </a:extLst>
          </p:cNvPr>
          <p:cNvSpPr>
            <a:spLocks noGrp="1"/>
          </p:cNvSpPr>
          <p:nvPr/>
        </p:nvSpPr>
        <p:spPr>
          <a:xfrm>
            <a:off x="8896350" y="333375"/>
            <a:ext cx="114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RESPALDO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CE6E9CE-C23A-4C83-9D09-CC78534166B3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E86F5B"/>
                </a:solidFill>
              </a:defRPr>
            </a:pPr>
            <a:r>
              <a:rPr sz="975" b="1">
                <a:solidFill>
                  <a:srgbClr val="E86F5B"/>
                </a:solidFill>
              </a:rPr>
              <a:t>18 / 19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7157845-D9E6-45BF-BC77-9C273501E2DB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0C09F1E-6562-4290-9CA2-EAAC4C47982D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E86F5B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93F3EDB-DB28-4B9A-94CB-2E169CBCE24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572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Uso de IA y apoyo computacional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147152F-85C6-4545-8833-23B2DB15CD14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Se declara el uso de herramientas de apoyo sin reemplazar el desarrollo manual del proyecto.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984B9013-A0D7-4F52-9B81-838BD1C18A4E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3276600" cy="1752600"/>
          </a:xfrm>
          <a:prstGeom prst="roundRect">
            <a:avLst>
              <a:gd name="adj" fmla="val 434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907FED4-FE2F-48AE-A9AF-F5100F7BC61E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76200" cy="17526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1EB6A7E-2614-43FE-8423-37F9CD1CDF52}"/>
              </a:ext>
            </a:extLst>
          </p:cNvPr>
          <p:cNvSpPr>
            <a:spLocks noGrp="1"/>
          </p:cNvSpPr>
          <p:nvPr/>
        </p:nvSpPr>
        <p:spPr>
          <a:xfrm>
            <a:off x="1009650" y="27813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D5C8FE3-D19C-452C-8A86-51637B47FC69}"/>
              </a:ext>
            </a:extLst>
          </p:cNvPr>
          <p:cNvSpPr>
            <a:spLocks noGrp="1"/>
          </p:cNvSpPr>
          <p:nvPr/>
        </p:nvSpPr>
        <p:spPr>
          <a:xfrm>
            <a:off x="1162050" y="305752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0429C90-90C1-4E39-9DEF-1D6981540B93}"/>
              </a:ext>
            </a:extLst>
          </p:cNvPr>
          <p:cNvSpPr>
            <a:spLocks noGrp="1"/>
          </p:cNvSpPr>
          <p:nvPr/>
        </p:nvSpPr>
        <p:spPr>
          <a:xfrm>
            <a:off x="1247775" y="298132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09B8BF2-4FD3-49E9-8526-004F25020D53}"/>
              </a:ext>
            </a:extLst>
          </p:cNvPr>
          <p:cNvSpPr>
            <a:spLocks noGrp="1"/>
          </p:cNvSpPr>
          <p:nvPr/>
        </p:nvSpPr>
        <p:spPr>
          <a:xfrm>
            <a:off x="1333500" y="291465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C8C579C-9949-4AD4-8AD2-CFF207BA0513}"/>
              </a:ext>
            </a:extLst>
          </p:cNvPr>
          <p:cNvSpPr>
            <a:spLocks noGrp="1"/>
          </p:cNvSpPr>
          <p:nvPr/>
        </p:nvSpPr>
        <p:spPr>
          <a:xfrm>
            <a:off x="1638300" y="27622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Redaccion y sintesis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CF47854-1382-43C3-B158-3EE065E15903}"/>
              </a:ext>
            </a:extLst>
          </p:cNvPr>
          <p:cNvSpPr>
            <a:spLocks noGrp="1"/>
          </p:cNvSpPr>
          <p:nvPr/>
        </p:nvSpPr>
        <p:spPr>
          <a:xfrm>
            <a:off x="1028700" y="3371850"/>
            <a:ext cx="28194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Se uso IA para sintetizar y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reorganizar el contenido del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informe y de la presentación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final.</a:t>
            </a: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784526B7-183E-4BDA-9270-AB00712F36E5}"/>
              </a:ext>
            </a:extLst>
          </p:cNvPr>
          <p:cNvSpPr>
            <a:spLocks noGrp="1"/>
          </p:cNvSpPr>
          <p:nvPr/>
        </p:nvSpPr>
        <p:spPr>
          <a:xfrm>
            <a:off x="4457700" y="2552700"/>
            <a:ext cx="3276600" cy="1752600"/>
          </a:xfrm>
          <a:prstGeom prst="roundRect">
            <a:avLst>
              <a:gd name="adj" fmla="val 434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2AD681D-9713-4329-AE81-E3C25407B939}"/>
              </a:ext>
            </a:extLst>
          </p:cNvPr>
          <p:cNvSpPr>
            <a:spLocks noGrp="1"/>
          </p:cNvSpPr>
          <p:nvPr/>
        </p:nvSpPr>
        <p:spPr>
          <a:xfrm>
            <a:off x="4457700" y="2552700"/>
            <a:ext cx="76200" cy="17526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462E9EC-858F-4990-8E88-56252841C416}"/>
              </a:ext>
            </a:extLst>
          </p:cNvPr>
          <p:cNvSpPr>
            <a:spLocks noGrp="1"/>
          </p:cNvSpPr>
          <p:nvPr/>
        </p:nvSpPr>
        <p:spPr>
          <a:xfrm>
            <a:off x="4667250" y="27813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D6ECB909-9EAB-4A1E-AFBE-021ED3B77A4C}"/>
              </a:ext>
            </a:extLst>
          </p:cNvPr>
          <p:cNvSpPr>
            <a:spLocks noGrp="1"/>
          </p:cNvSpPr>
          <p:nvPr/>
        </p:nvSpPr>
        <p:spPr>
          <a:xfrm>
            <a:off x="4791075" y="295275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49CE0EB7-F2E3-4B11-B84C-8C8C57B9298D}"/>
              </a:ext>
            </a:extLst>
          </p:cNvPr>
          <p:cNvSpPr>
            <a:spLocks noGrp="1"/>
          </p:cNvSpPr>
          <p:nvPr/>
        </p:nvSpPr>
        <p:spPr>
          <a:xfrm>
            <a:off x="4962525" y="303847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0F08291-5FA6-4D9E-9AB8-AB81D66B2B22}"/>
              </a:ext>
            </a:extLst>
          </p:cNvPr>
          <p:cNvSpPr>
            <a:spLocks noGrp="1"/>
          </p:cNvSpPr>
          <p:nvPr/>
        </p:nvSpPr>
        <p:spPr>
          <a:xfrm>
            <a:off x="4876800" y="301942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CB8C40B-54E7-47D3-B016-2115A463EA32}"/>
              </a:ext>
            </a:extLst>
          </p:cNvPr>
          <p:cNvSpPr>
            <a:spLocks noGrp="1"/>
          </p:cNvSpPr>
          <p:nvPr/>
        </p:nvSpPr>
        <p:spPr>
          <a:xfrm>
            <a:off x="5295900" y="27622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Diseno de la presentacion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D2A0DD0-F56A-4463-85D5-A3D7EB3264C5}"/>
              </a:ext>
            </a:extLst>
          </p:cNvPr>
          <p:cNvSpPr>
            <a:spLocks noGrp="1"/>
          </p:cNvSpPr>
          <p:nvPr/>
        </p:nvSpPr>
        <p:spPr>
          <a:xfrm>
            <a:off x="4686300" y="3371850"/>
            <a:ext cx="28194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Se uso IA para apoyar la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estructura del </a:t>
            </a:r>
            <a:r>
              <a:rPr lang="es-ES_tradnl" sz="1125" b="0" dirty="0" err="1">
                <a:solidFill>
                  <a:srgbClr val="101214"/>
                </a:solidFill>
              </a:rPr>
              <a:t>deck</a:t>
            </a:r>
            <a:r>
              <a:rPr lang="es-ES_tradnl" sz="1125" b="0" dirty="0">
                <a:solidFill>
                  <a:srgbClr val="101214"/>
                </a:solidFill>
              </a:rPr>
              <a:t>, la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distribución del contenido y el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diseño editable del PPTX.</a:t>
            </a:r>
          </a:p>
        </p:txBody>
      </p:sp>
      <p:sp>
        <p:nvSpPr>
          <p:cNvPr id="28" name="Rectángulo redondeado 27">
            <a:extLst>
              <a:ext uri="{FF2B5EF4-FFF2-40B4-BE49-F238E27FC236}">
                <a16:creationId xmlns:a16="http://schemas.microsoft.com/office/drawing/2014/main" id="{B2CEC1F8-37AC-4C36-995F-2424EE0A9C0C}"/>
              </a:ext>
            </a:extLst>
          </p:cNvPr>
          <p:cNvSpPr>
            <a:spLocks noGrp="1"/>
          </p:cNvSpPr>
          <p:nvPr/>
        </p:nvSpPr>
        <p:spPr>
          <a:xfrm>
            <a:off x="8115300" y="2552700"/>
            <a:ext cx="3276600" cy="1752600"/>
          </a:xfrm>
          <a:prstGeom prst="roundRect">
            <a:avLst>
              <a:gd name="adj" fmla="val 434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62B1024-1CD1-4B28-AE69-1BEFA2E4D7DF}"/>
              </a:ext>
            </a:extLst>
          </p:cNvPr>
          <p:cNvSpPr>
            <a:spLocks noGrp="1"/>
          </p:cNvSpPr>
          <p:nvPr/>
        </p:nvSpPr>
        <p:spPr>
          <a:xfrm>
            <a:off x="8115300" y="2552700"/>
            <a:ext cx="76200" cy="17526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A0E76A21-FD02-4DE4-B5DD-B10EBB3CE32B}"/>
              </a:ext>
            </a:extLst>
          </p:cNvPr>
          <p:cNvSpPr>
            <a:spLocks noGrp="1"/>
          </p:cNvSpPr>
          <p:nvPr/>
        </p:nvSpPr>
        <p:spPr>
          <a:xfrm>
            <a:off x="8324850" y="27813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90FFD704-20EB-4517-8124-2E6B7A001026}"/>
              </a:ext>
            </a:extLst>
          </p:cNvPr>
          <p:cNvSpPr>
            <a:spLocks noGrp="1"/>
          </p:cNvSpPr>
          <p:nvPr/>
        </p:nvSpPr>
        <p:spPr>
          <a:xfrm>
            <a:off x="8448675" y="29241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48727477-149D-4E18-BBD2-D61BABE045F9}"/>
              </a:ext>
            </a:extLst>
          </p:cNvPr>
          <p:cNvSpPr>
            <a:spLocks noGrp="1"/>
          </p:cNvSpPr>
          <p:nvPr/>
        </p:nvSpPr>
        <p:spPr>
          <a:xfrm>
            <a:off x="8496300" y="30099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9AFF19E2-8985-4AFD-8B2C-E79C6B443B78}"/>
              </a:ext>
            </a:extLst>
          </p:cNvPr>
          <p:cNvSpPr>
            <a:spLocks noGrp="1"/>
          </p:cNvSpPr>
          <p:nvPr/>
        </p:nvSpPr>
        <p:spPr>
          <a:xfrm>
            <a:off x="8543925" y="30956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48C2B6F-C7C0-4788-934B-317944A6BA0D}"/>
              </a:ext>
            </a:extLst>
          </p:cNvPr>
          <p:cNvSpPr>
            <a:spLocks noGrp="1"/>
          </p:cNvSpPr>
          <p:nvPr/>
        </p:nvSpPr>
        <p:spPr>
          <a:xfrm>
            <a:off x="8953500" y="27622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Calculos manuales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DDDD379-B16F-429F-890F-97DEEF9181D1}"/>
              </a:ext>
            </a:extLst>
          </p:cNvPr>
          <p:cNvSpPr>
            <a:spLocks noGrp="1"/>
          </p:cNvSpPr>
          <p:nvPr/>
        </p:nvSpPr>
        <p:spPr>
          <a:xfrm>
            <a:off x="8343900" y="3371850"/>
            <a:ext cx="28194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Los cálculos principales del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modelado y de la sintonía se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desarrollaron a mano y luego se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transcribieron al documento.</a:t>
            </a:r>
          </a:p>
        </p:txBody>
      </p:sp>
      <p:sp>
        <p:nvSpPr>
          <p:cNvPr id="36" name="Rectángulo redondeado 35">
            <a:extLst>
              <a:ext uri="{FF2B5EF4-FFF2-40B4-BE49-F238E27FC236}">
                <a16:creationId xmlns:a16="http://schemas.microsoft.com/office/drawing/2014/main" id="{C3390B72-4E97-4014-ADA5-2A4FB9A7F395}"/>
              </a:ext>
            </a:extLst>
          </p:cNvPr>
          <p:cNvSpPr>
            <a:spLocks noGrp="1"/>
          </p:cNvSpPr>
          <p:nvPr/>
        </p:nvSpPr>
        <p:spPr>
          <a:xfrm>
            <a:off x="2628900" y="4552950"/>
            <a:ext cx="3276600" cy="1752600"/>
          </a:xfrm>
          <a:prstGeom prst="roundRect">
            <a:avLst>
              <a:gd name="adj" fmla="val 434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CE8D3B54-927A-44FE-A973-DCDCBF22FCCD}"/>
              </a:ext>
            </a:extLst>
          </p:cNvPr>
          <p:cNvSpPr>
            <a:spLocks noGrp="1"/>
          </p:cNvSpPr>
          <p:nvPr/>
        </p:nvSpPr>
        <p:spPr>
          <a:xfrm>
            <a:off x="2628900" y="4552950"/>
            <a:ext cx="76200" cy="17526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35690CE2-7A72-4628-9BE7-9271BA316E90}"/>
              </a:ext>
            </a:extLst>
          </p:cNvPr>
          <p:cNvSpPr>
            <a:spLocks noGrp="1"/>
          </p:cNvSpPr>
          <p:nvPr/>
        </p:nvSpPr>
        <p:spPr>
          <a:xfrm>
            <a:off x="2838450" y="47815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96D288B-B1B2-4C31-B3B3-956F485465E0}"/>
              </a:ext>
            </a:extLst>
          </p:cNvPr>
          <p:cNvSpPr>
            <a:spLocks noGrp="1"/>
          </p:cNvSpPr>
          <p:nvPr/>
        </p:nvSpPr>
        <p:spPr>
          <a:xfrm>
            <a:off x="2990850" y="505777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1665D346-EAE8-4F94-B693-6328454BAA03}"/>
              </a:ext>
            </a:extLst>
          </p:cNvPr>
          <p:cNvSpPr>
            <a:spLocks noGrp="1"/>
          </p:cNvSpPr>
          <p:nvPr/>
        </p:nvSpPr>
        <p:spPr>
          <a:xfrm>
            <a:off x="3076575" y="498157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3DE8435D-719D-4593-8E08-44C0C4F762BD}"/>
              </a:ext>
            </a:extLst>
          </p:cNvPr>
          <p:cNvSpPr>
            <a:spLocks noGrp="1"/>
          </p:cNvSpPr>
          <p:nvPr/>
        </p:nvSpPr>
        <p:spPr>
          <a:xfrm>
            <a:off x="3162300" y="491490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8219D580-23D2-4D4F-B20D-D262D3BC99D0}"/>
              </a:ext>
            </a:extLst>
          </p:cNvPr>
          <p:cNvSpPr>
            <a:spLocks noGrp="1"/>
          </p:cNvSpPr>
          <p:nvPr/>
        </p:nvSpPr>
        <p:spPr>
          <a:xfrm>
            <a:off x="3467100" y="47625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Apoyo simbolico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69871FF7-5DF5-4AC4-A1B0-00BA75BAE949}"/>
              </a:ext>
            </a:extLst>
          </p:cNvPr>
          <p:cNvSpPr>
            <a:spLocks noGrp="1"/>
          </p:cNvSpPr>
          <p:nvPr/>
        </p:nvSpPr>
        <p:spPr>
          <a:xfrm>
            <a:off x="2857500" y="5372100"/>
            <a:ext cx="28194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Se uso </a:t>
            </a:r>
            <a:r>
              <a:rPr lang="es-ES_tradnl" sz="1125" b="0" dirty="0" err="1">
                <a:solidFill>
                  <a:srgbClr val="101214"/>
                </a:solidFill>
              </a:rPr>
              <a:t>SymPy</a:t>
            </a:r>
            <a:r>
              <a:rPr lang="es-ES_tradnl" sz="1125" b="0" dirty="0">
                <a:solidFill>
                  <a:srgbClr val="101214"/>
                </a:solidFill>
              </a:rPr>
              <a:t> en </a:t>
            </a:r>
            <a:r>
              <a:rPr lang="es-ES_tradnl" sz="1125" b="0" dirty="0" err="1">
                <a:solidFill>
                  <a:srgbClr val="101214"/>
                </a:solidFill>
              </a:rPr>
              <a:t>Jupyter</a:t>
            </a:r>
            <a:r>
              <a:rPr lang="es-ES_tradnl" sz="1125" b="0" dirty="0">
                <a:solidFill>
                  <a:srgbClr val="101214"/>
                </a:solidFill>
              </a:rPr>
              <a:t> Notebook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como apoyo algebraico para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reducciones y solución de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lang="es-ES_tradnl" sz="1125" b="0" dirty="0">
                <a:solidFill>
                  <a:srgbClr val="101214"/>
                </a:solidFill>
              </a:rPr>
              <a:t>ecuaciones.</a:t>
            </a:r>
          </a:p>
        </p:txBody>
      </p:sp>
      <p:sp>
        <p:nvSpPr>
          <p:cNvPr id="44" name="Rectángulo redondeado 43">
            <a:extLst>
              <a:ext uri="{FF2B5EF4-FFF2-40B4-BE49-F238E27FC236}">
                <a16:creationId xmlns:a16="http://schemas.microsoft.com/office/drawing/2014/main" id="{F6265458-3033-4497-BD47-5416A236E66F}"/>
              </a:ext>
            </a:extLst>
          </p:cNvPr>
          <p:cNvSpPr>
            <a:spLocks noGrp="1"/>
          </p:cNvSpPr>
          <p:nvPr/>
        </p:nvSpPr>
        <p:spPr>
          <a:xfrm>
            <a:off x="6286500" y="4552950"/>
            <a:ext cx="3276600" cy="1752600"/>
          </a:xfrm>
          <a:prstGeom prst="roundRect">
            <a:avLst>
              <a:gd name="adj" fmla="val 434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5753C70C-AB96-46D5-9D66-FC39D801BB33}"/>
              </a:ext>
            </a:extLst>
          </p:cNvPr>
          <p:cNvSpPr>
            <a:spLocks noGrp="1"/>
          </p:cNvSpPr>
          <p:nvPr/>
        </p:nvSpPr>
        <p:spPr>
          <a:xfrm>
            <a:off x="6286500" y="4552950"/>
            <a:ext cx="76200" cy="17526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DB579F11-4A87-4D1E-B846-B7CA506D82FF}"/>
              </a:ext>
            </a:extLst>
          </p:cNvPr>
          <p:cNvSpPr>
            <a:spLocks noGrp="1"/>
          </p:cNvSpPr>
          <p:nvPr/>
        </p:nvSpPr>
        <p:spPr>
          <a:xfrm>
            <a:off x="6496050" y="478155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0559CBEC-23DD-4074-9310-4922574486B0}"/>
              </a:ext>
            </a:extLst>
          </p:cNvPr>
          <p:cNvSpPr>
            <a:spLocks noGrp="1"/>
          </p:cNvSpPr>
          <p:nvPr/>
        </p:nvSpPr>
        <p:spPr>
          <a:xfrm>
            <a:off x="6619875" y="495300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567A5BFF-7E6F-4E6C-9F7A-511B2F0C08CC}"/>
              </a:ext>
            </a:extLst>
          </p:cNvPr>
          <p:cNvSpPr>
            <a:spLocks noGrp="1"/>
          </p:cNvSpPr>
          <p:nvPr/>
        </p:nvSpPr>
        <p:spPr>
          <a:xfrm>
            <a:off x="6791325" y="503872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26B64B3C-7D1D-4814-9AE1-DCF325AE7EDB}"/>
              </a:ext>
            </a:extLst>
          </p:cNvPr>
          <p:cNvSpPr>
            <a:spLocks noGrp="1"/>
          </p:cNvSpPr>
          <p:nvPr/>
        </p:nvSpPr>
        <p:spPr>
          <a:xfrm>
            <a:off x="6705600" y="501967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BA69C57C-7EA4-4678-AD92-23AC682D773F}"/>
              </a:ext>
            </a:extLst>
          </p:cNvPr>
          <p:cNvSpPr>
            <a:spLocks noGrp="1"/>
          </p:cNvSpPr>
          <p:nvPr/>
        </p:nvSpPr>
        <p:spPr>
          <a:xfrm>
            <a:off x="7124700" y="47625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Apoyo de Codex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3A75F6F6-1037-4C20-A537-124922FA46E6}"/>
              </a:ext>
            </a:extLst>
          </p:cNvPr>
          <p:cNvSpPr>
            <a:spLocks noGrp="1"/>
          </p:cNvSpPr>
          <p:nvPr/>
        </p:nvSpPr>
        <p:spPr>
          <a:xfrm>
            <a:off x="6515100" y="5372100"/>
            <a:ext cx="28194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Se uso Codex para documentar la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implementacion en Simscape y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guiar la implementacion del bono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3D.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F0D23102-130E-451F-97C0-62861590FACA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Desarrollo propio del grupo a partir del modelado fisico del sistema.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E9FCB31B-D2DC-4702-ACD2-ED34D785AE38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7C1E9940-CD53-4CE7-80C8-6C9962F576BF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</p:spTree>
    <p:extLst>
      <p:ext uri="{BB962C8B-B14F-4D97-AF65-F5344CB8AC3E}">
        <p14:creationId xmlns:p14="http://schemas.microsoft.com/office/powerpoint/2010/main" val="1718996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F3F756B2-143B-4DF5-96FF-66A72223A1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DA98E8D-BEB0-445E-9903-C157AB3A058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86F5B"/>
                </a:solidFill>
              </a:defRPr>
            </a:pPr>
            <a:r>
              <a:rPr sz="975" b="1">
                <a:solidFill>
                  <a:srgbClr val="E86F5B"/>
                </a:solidFill>
              </a:rPr>
              <a:t>RESPALDO 05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C47ECBD5-1929-4E96-93FA-76E3D4B28AC3}"/>
              </a:ext>
            </a:extLst>
          </p:cNvPr>
          <p:cNvSpPr>
            <a:spLocks noGrp="1"/>
          </p:cNvSpPr>
          <p:nvPr/>
        </p:nvSpPr>
        <p:spPr>
          <a:xfrm>
            <a:off x="8782050" y="285750"/>
            <a:ext cx="1371600" cy="247650"/>
          </a:xfrm>
          <a:prstGeom prst="roundRect">
            <a:avLst>
              <a:gd name="adj" fmla="val 30769"/>
            </a:avLst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1A31D8E-7015-4135-A866-68E8AD648F1B}"/>
              </a:ext>
            </a:extLst>
          </p:cNvPr>
          <p:cNvSpPr>
            <a:spLocks noGrp="1"/>
          </p:cNvSpPr>
          <p:nvPr/>
        </p:nvSpPr>
        <p:spPr>
          <a:xfrm>
            <a:off x="8896350" y="333375"/>
            <a:ext cx="114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RESPALDO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1489F90-8C9E-463F-9B88-2E29C5F00965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E86F5B"/>
                </a:solidFill>
              </a:defRPr>
            </a:pPr>
            <a:r>
              <a:rPr sz="975" b="1">
                <a:solidFill>
                  <a:srgbClr val="E86F5B"/>
                </a:solidFill>
              </a:rPr>
              <a:t>19 / 19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E574E67-5797-4EE4-8E2E-9E730A62D877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7EF601F-F390-44A7-87E6-F9F11DE47F34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E86F5B"/>
          </a:solidFill>
          <a:ln w="1905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90B00B9-9C84-4425-93E1-EF720985A2C0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763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Respaldo tecnico adicional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A50ABD5-188F-47B0-AAF4-12A751AC2A10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Formulas clave para preguntas del profesor durante la sustentacion.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241C50C0-56B7-40D7-94CD-D2FDDEF4A2CB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51435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2ACBF1D-0475-4F16-BF95-00E4D42285EB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5143500" cy="762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3FF8FF5-3A7D-4906-8F37-BB775BC9871B}"/>
              </a:ext>
            </a:extLst>
          </p:cNvPr>
          <p:cNvSpPr>
            <a:spLocks noGrp="1"/>
          </p:cNvSpPr>
          <p:nvPr/>
        </p:nvSpPr>
        <p:spPr>
          <a:xfrm>
            <a:off x="1009650" y="2895600"/>
            <a:ext cx="472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Modelo completo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870F982-AEE3-4465-90C7-779845D53E86}"/>
              </a:ext>
            </a:extLst>
          </p:cNvPr>
          <p:cNvSpPr>
            <a:spLocks noGrp="1"/>
          </p:cNvSpPr>
          <p:nvPr/>
        </p:nvSpPr>
        <p:spPr>
          <a:xfrm>
            <a:off x="1009650" y="3257550"/>
            <a:ext cx="47244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m q_ddot + c q_dot + k q = K_f i - m z_ddot</a:t>
            </a:r>
          </a:p>
          <a:p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L i_dot + R i + K_e q_dot = u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7E02395E-250A-42B3-B09D-B356F5AB6BAB}"/>
              </a:ext>
            </a:extLst>
          </p:cNvPr>
          <p:cNvSpPr>
            <a:spLocks noGrp="1"/>
          </p:cNvSpPr>
          <p:nvPr/>
        </p:nvSpPr>
        <p:spPr>
          <a:xfrm>
            <a:off x="6248400" y="2724150"/>
            <a:ext cx="51435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A266847-C2BD-4C66-855B-C729C5800301}"/>
              </a:ext>
            </a:extLst>
          </p:cNvPr>
          <p:cNvSpPr>
            <a:spLocks noGrp="1"/>
          </p:cNvSpPr>
          <p:nvPr/>
        </p:nvSpPr>
        <p:spPr>
          <a:xfrm>
            <a:off x="6248400" y="2724150"/>
            <a:ext cx="5143500" cy="76200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FACE681-0062-48CF-A3E4-9339FF40321F}"/>
              </a:ext>
            </a:extLst>
          </p:cNvPr>
          <p:cNvSpPr>
            <a:spLocks noGrp="1"/>
          </p:cNvSpPr>
          <p:nvPr/>
        </p:nvSpPr>
        <p:spPr>
          <a:xfrm>
            <a:off x="6457950" y="2895600"/>
            <a:ext cx="472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Planta nominal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213ED1F-BF3E-4393-9C47-6988B2DBAA2E}"/>
              </a:ext>
            </a:extLst>
          </p:cNvPr>
          <p:cNvSpPr>
            <a:spLocks noGrp="1"/>
          </p:cNvSpPr>
          <p:nvPr/>
        </p:nvSpPr>
        <p:spPr>
          <a:xfrm>
            <a:off x="6457950" y="3257550"/>
            <a:ext cx="47244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G(s) = K_f / [ (L s + R)(m s^2 + c s + k) + K_f K_e s ]</a:t>
            </a:r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B3FEEE7F-DE89-4056-A4FB-45F63E11C60B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105918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F77756E-0740-461F-A078-12687E5B02E4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10591800" cy="76200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76FCEBC-C7A9-437B-A3F8-55894DB06797}"/>
              </a:ext>
            </a:extLst>
          </p:cNvPr>
          <p:cNvSpPr>
            <a:spLocks noGrp="1"/>
          </p:cNvSpPr>
          <p:nvPr/>
        </p:nvSpPr>
        <p:spPr>
          <a:xfrm>
            <a:off x="1009650" y="4762500"/>
            <a:ext cx="10172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PID implementado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D3F3B15-75BD-4877-BE01-E97E342BF8E1}"/>
              </a:ext>
            </a:extLst>
          </p:cNvPr>
          <p:cNvSpPr>
            <a:spLocks noGrp="1"/>
          </p:cNvSpPr>
          <p:nvPr/>
        </p:nvSpPr>
        <p:spPr>
          <a:xfrm>
            <a:off x="1009650" y="5124450"/>
            <a:ext cx="101727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C(s) = 50 ( 1 + 1 / (0.05 s) + 0.2 s )</a:t>
            </a:r>
          </a:p>
          <a:p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Bloque PID: P = 50, I = 0.05, D = 0.2, N = 10</a:t>
            </a:r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3F9DF59F-648B-4729-96C5-0D27F3417CC7}"/>
              </a:ext>
            </a:extLst>
          </p:cNvPr>
          <p:cNvSpPr>
            <a:spLocks noGrp="1"/>
          </p:cNvSpPr>
          <p:nvPr/>
        </p:nvSpPr>
        <p:spPr>
          <a:xfrm>
            <a:off x="800100" y="6057900"/>
            <a:ext cx="10591800" cy="266700"/>
          </a:xfrm>
          <a:prstGeom prst="roundRect">
            <a:avLst>
              <a:gd name="adj" fmla="val 28571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7C3C727-9E28-498D-9CA4-6DA9E6A87C41}"/>
              </a:ext>
            </a:extLst>
          </p:cNvPr>
          <p:cNvSpPr>
            <a:spLocks noGrp="1"/>
          </p:cNvSpPr>
          <p:nvPr/>
        </p:nvSpPr>
        <p:spPr>
          <a:xfrm>
            <a:off x="1009650" y="6124575"/>
            <a:ext cx="1143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16B49"/>
                </a:solidFill>
              </a:defRPr>
            </a:pPr>
            <a:r>
              <a:rPr sz="825" b="1">
                <a:solidFill>
                  <a:srgbClr val="116B49"/>
                </a:solidFill>
              </a:rPr>
              <a:t>Uso del slide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CDE3B5D-5F78-43B5-8DBF-02E686D62DD0}"/>
              </a:ext>
            </a:extLst>
          </p:cNvPr>
          <p:cNvSpPr>
            <a:spLocks noGrp="1"/>
          </p:cNvSpPr>
          <p:nvPr/>
        </p:nvSpPr>
        <p:spPr>
          <a:xfrm>
            <a:off x="2209800" y="6124575"/>
            <a:ext cx="8972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0363A"/>
                </a:solidFill>
              </a:defRPr>
            </a:pPr>
            <a:r>
              <a:rPr sz="825" b="0">
                <a:solidFill>
                  <a:srgbClr val="30363A"/>
                </a:solidFill>
              </a:rPr>
              <a:t>Usar este slide solo como respaldo, no como parte obligatoria del recorrido principal.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54EB63F-A6B5-4AF5-9EEE-350E30F2D9FE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76"/>
                </a:solidFill>
              </a:defRPr>
            </a:pPr>
            <a:r>
              <a:rPr sz="600" b="0">
                <a:solidFill>
                  <a:srgbClr val="687076"/>
                </a:solidFill>
              </a:rPr>
              <a:t>Fuentes: N. Quijano, Estabilidad 1, notas de clase. · N. Quijano, IMC y PID, notas de clase. · Desarrollo propio del grupo a partir del modelado fisico del sistema.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BED92DD-9245-4AA6-886C-87E8AAAAFA58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Actividad 2 · Curso de Control · Plataforma antivibratoria activa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39EC78E-8918-40B1-9F31-BAA7806E09E0}"/>
              </a:ext>
            </a:extLst>
          </p:cNvPr>
          <p:cNvSpPr>
            <a:spLocks noGrp="1"/>
          </p:cNvSpPr>
          <p:nvPr/>
        </p:nvSpPr>
        <p:spPr>
          <a:xfrm>
            <a:off x="9067800" y="6572250"/>
            <a:ext cx="2514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Grupo / integrantes: completar</a:t>
            </a:r>
          </a:p>
        </p:txBody>
      </p:sp>
    </p:spTree>
    <p:extLst>
      <p:ext uri="{BB962C8B-B14F-4D97-AF65-F5344CB8AC3E}">
        <p14:creationId xmlns:p14="http://schemas.microsoft.com/office/powerpoint/2010/main" val="10021877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3923</Words>
  <Application>Microsoft Macintosh PowerPoint</Application>
  <DocSecurity>0</DocSecurity>
  <PresentationFormat>Panorámica</PresentationFormat>
  <Paragraphs>467</Paragraphs>
  <Slides>19</Slides>
  <Notes>19</Notes>
  <HiddenSlides>0</HiddenSlides>
  <MMClips>1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1" baseType="lpstr"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Sergio Emanuel Ropero Ayala</cp:lastModifiedBy>
  <cp:revision>3</cp:revision>
  <dcterms:created xsi:type="dcterms:W3CDTF">2026-04-22T13:10:21Z</dcterms:created>
  <dcterms:modified xsi:type="dcterms:W3CDTF">2026-04-22T16:24:41Z</dcterms:modified>
</cp:coreProperties>
</file>